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9d8a110d5b497c" /><Relationship Type="http://schemas.openxmlformats.org/officeDocument/2006/relationships/extended-properties" Target="/docProps/app.xml" Id="R3763a2ac6c9d42a9" /><Relationship Type="http://schemas.openxmlformats.org/officeDocument/2006/relationships/officeDocument" Target="/ppt/presentation.xml" Id="R3bc37b7aa9c740b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a6faa3191ff4053"/>
  </p:sldMasterIdLst>
  <p:notesMasterIdLst>
    <p:notesMasterId xmlns:r="http://schemas.openxmlformats.org/officeDocument/2006/relationships" r:id="R9619fe092720492f"/>
  </p:notesMasterIdLst>
  <p:sldIdLst>
    <p:sldId xmlns:r="http://schemas.openxmlformats.org/officeDocument/2006/relationships" id="256" r:id="Rcc21b5fd2f194c78"/>
    <p:sldId xmlns:r="http://schemas.openxmlformats.org/officeDocument/2006/relationships" id="257" r:id="R172da1138d6f4499"/>
    <p:sldId xmlns:r="http://schemas.openxmlformats.org/officeDocument/2006/relationships" id="258" r:id="R122c7e7f66d8417d"/>
    <p:sldId xmlns:r="http://schemas.openxmlformats.org/officeDocument/2006/relationships" id="259" r:id="Rba76a203dbee46de"/>
  </p:sldIdLst>
  <p:sldSz cx="12192000" cy="6858000"/>
  <p:notesSz cx="6858000" cy="9144000"/>
  <p:embeddedFontLst>
    <p:embeddedFont>
      <p:font typeface="OpenAI Sans"/>
      <p:regular xmlns:r="http://schemas.openxmlformats.org/officeDocument/2006/relationships" r:id="Rc805a36363dd4ce3"/>
      <p:bold xmlns:r="http://schemas.openxmlformats.org/officeDocument/2006/relationships" r:id="R833a72055fb84b69"/>
      <p:italic xmlns:r="http://schemas.openxmlformats.org/officeDocument/2006/relationships" r:id="R7981454007374d61"/>
      <p:boldItalic xmlns:r="http://schemas.openxmlformats.org/officeDocument/2006/relationships" r:id="Re8c3fda780374f1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3d2c10bef1346b6" /><Relationship Type="http://schemas.openxmlformats.org/officeDocument/2006/relationships/slideMaster" Target="/ppt/slideMasters/slideMaster1.xml" Id="R7a6faa3191ff4053" /><Relationship Type="http://schemas.openxmlformats.org/officeDocument/2006/relationships/notesMaster" Target="/ppt/notesMasters/notesMaster1.xml" Id="R9619fe092720492f" /><Relationship Type="http://schemas.openxmlformats.org/officeDocument/2006/relationships/presProps" Target="/ppt/presProps.xml" Id="R4810fd8c2c1b4f3d" /><Relationship Type="http://schemas.openxmlformats.org/officeDocument/2006/relationships/viewProps" Target="/ppt/viewProps.xml" Id="R319a210b0a5441bd" /><Relationship Type="http://schemas.openxmlformats.org/officeDocument/2006/relationships/tableStyles" Target="/ppt/tableStyles.xml" Id="Re2a5c1b778924a53" /><Relationship Type="http://schemas.openxmlformats.org/officeDocument/2006/relationships/font" Target="/ppt/fonts/font.dat" Id="Rc805a36363dd4ce3" /><Relationship Type="http://schemas.openxmlformats.org/officeDocument/2006/relationships/font" Target="/ppt/fonts/font2.dat" Id="R833a72055fb84b69" /><Relationship Type="http://schemas.openxmlformats.org/officeDocument/2006/relationships/font" Target="/ppt/fonts/font3.dat" Id="R7981454007374d61" /><Relationship Type="http://schemas.openxmlformats.org/officeDocument/2006/relationships/font" Target="/ppt/fonts/font4.dat" Id="Re8c3fda780374f1e" /><Relationship Type="http://schemas.openxmlformats.org/officeDocument/2006/relationships/slide" Target="/ppt/slides/slide1.xml" Id="Rcc21b5fd2f194c78" /><Relationship Type="http://schemas.openxmlformats.org/officeDocument/2006/relationships/slide" Target="/ppt/slides/slide2.xml" Id="R172da1138d6f4499" /><Relationship Type="http://schemas.openxmlformats.org/officeDocument/2006/relationships/slide" Target="/ppt/slides/slide3.xml" Id="R122c7e7f66d8417d" /><Relationship Type="http://schemas.openxmlformats.org/officeDocument/2006/relationships/slide" Target="/ppt/slides/slide4.xml" Id="Rba76a203dbee46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fca32509244c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8bce2cc7e341a0" /><Relationship Type="http://schemas.openxmlformats.org/officeDocument/2006/relationships/notesMaster" Target="/ppt/notesMasters/notesMaster1.xml" Id="R67d65fb3eda24c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09a45e893a4540" /><Relationship Type="http://schemas.openxmlformats.org/officeDocument/2006/relationships/notesMaster" Target="/ppt/notesMasters/notesMaster1.xml" Id="R0048713143b84c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defdd53a204b17" /><Relationship Type="http://schemas.openxmlformats.org/officeDocument/2006/relationships/notesMaster" Target="/ppt/notesMasters/notesMaster1.xml" Id="Rc7843216b3de4d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b964b8e8b54eeb" /><Relationship Type="http://schemas.openxmlformats.org/officeDocument/2006/relationships/notesMaster" Target="/ppt/notesMasters/notesMaster1.xml" Id="R88eeb2a751e944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harness at a glance. It begins with a clear task and acceptance criteria, then moves through planning, approval, implementation, checks and independent validation. The lead remains accountable for decisions. A failure returns to implementation. The process ends with a CI-green pull request, while the user retains the merge decision. The lower strip shows local user scope: the harness lives outside the application repository and is loaded through the user’s Claude Code configuration.</a:t>
            </a:r>
          </a:p>
          <a:p xmlns:a="http://schemas.openxmlformats.org/drawingml/2006/main">
            <a:r>
              <a:t/>
            </a:r>
          </a:p>
          <a:p xmlns:a="http://schemas.openxmlformats.org/drawingml/2006/main">
            <a:r>
              <a:t>Sources:</a:t>
            </a:r>
          </a:p>
          <a:p xmlns:a="http://schemas.openxmlformats.org/drawingml/2006/main">
            <a:r>
              <a:t>/Users/andressalguero/Documents/housenumbers/zora-harness/README.md</a:t>
            </a:r>
          </a:p>
          <a:p xmlns:a="http://schemas.openxmlformats.org/drawingml/2006/main">
            <a:r>
              <a:t>/Users/andressalguero/Documents/housenumbers/zora-harness/skills/zora-cycle/SKILL.md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operating model is simple. Claude Code executes the specialist roles and custom skills define their procedures. The lead maintains a durable ledger of approved scope, key decisions, agent identifiers, branch state and evidence. Each agent receives a bounded brief rather than the entire conversation. The validator is intentionally independent: it receives the requirements and the actual change, without the builder’s reasoning. When starting a new conversation, we preserve the state in the ledger, check whether any agent is still running, then resume from the durable artifacts and Git history.</a:t>
            </a:r>
          </a:p>
          <a:p xmlns:a="http://schemas.openxmlformats.org/drawingml/2006/main">
            <a:r>
              <a:t/>
            </a:r>
          </a:p>
          <a:p xmlns:a="http://schemas.openxmlformats.org/drawingml/2006/main">
            <a:r>
              <a:t>Sources:</a:t>
            </a:r>
          </a:p>
          <a:p xmlns:a="http://schemas.openxmlformats.org/drawingml/2006/main">
            <a:r>
              <a:t>/Users/andressalguero/Documents/housenumbers/zora-harness/skills/zora-cycle/SKILL.md</a:t>
            </a:r>
          </a:p>
          <a:p xmlns:a="http://schemas.openxmlformats.org/drawingml/2006/main">
            <a:r>
              <a:t>/Users/andressalguero/Documents/housenumbers/zora-pantheon/.agents/skills/orchestrate/SKILL.md</a:t>
            </a:r>
          </a:p>
          <a:p xmlns:a="http://schemas.openxmlformats.org/drawingml/2006/main">
            <a:r>
              <a:t>/Users/andressalguero/Documents/housenumbers/zora-pantheon/.agents/skills/subagents/SKILL.md</a:t>
            </a:r>
          </a:p>
          <a:p xmlns:a="http://schemas.openxmlformats.org/drawingml/2006/main">
            <a:r>
              <a:t>Generated illustration: orchestration-control-tower.png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addresses the failure mode where agents over-optimize or attempt to repair a problem created by their own test or evaluation. First, the planner must verify the original premise. Correct existing behavior is a valid outcome. Second, a significant review finding gets an independent refutation attempt. The verifier checks the actual source, specification and tests. Finally, the lead makes the decision: fix a confirmed in-scope issue, bank a real but unrelated issue, or reject a claim that is not supported. A generated test never becomes a product requirement just because it fails.</a:t>
            </a:r>
          </a:p>
          <a:p xmlns:a="http://schemas.openxmlformats.org/drawingml/2006/main">
            <a:r>
              <a:t/>
            </a:r>
          </a:p>
          <a:p xmlns:a="http://schemas.openxmlformats.org/drawingml/2006/main">
            <a:r>
              <a:t>Sources:</a:t>
            </a:r>
          </a:p>
          <a:p xmlns:a="http://schemas.openxmlformats.org/drawingml/2006/main">
            <a:r>
              <a:t>/Users/andressalguero/Documents/housenumbers/zora-harness/skills/agent-review/SKILL.md</a:t>
            </a:r>
          </a:p>
          <a:p xmlns:a="http://schemas.openxmlformats.org/drawingml/2006/main">
            <a:r>
              <a:t>/Users/andressalguero/Documents/housenumbers/zora-harness/agents/zora-planner.md</a:t>
            </a:r>
          </a:p>
          <a:p xmlns:a="http://schemas.openxmlformats.org/drawingml/2006/main">
            <a:r>
              <a:t>/Users/andressalguero/Documents/housenumbers/zora-harness/agents/zora-implementer.md</a:t>
            </a:r>
          </a:p>
          <a:p xmlns:a="http://schemas.openxmlformats.org/drawingml/2006/main">
            <a:r>
              <a:t>Generated illustration: decision-filter.png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harness drew inspiration from Anthropic’s multi-agent research system. The shared ideas are a lead-agent and specialist-agent model, bounded task delegation, separate contexts and durable handoffs. Anthropic also notes that software work has fewer truly independent tasks than research. The Zora adaptation therefore sequences changes in the shared checkout while it uses independence where it adds value: planning, review and validation. The intent for stakeholders is simple: visible scope, evidence before change and a named person accountable for the final decision.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https://www.anthropic.com/engineering/multi-agent-research-system</a:t>
            </a:r>
            <a:endParaRPr/>
          </a:p>
          <a:p xmlns:a="http://schemas.openxmlformats.org/drawingml/2006/main">
            <a:pPr marL="0" lvl="0" indent="0" algn="l">
              <a:spcBef>
                <a:spcPts val="0"/>
              </a:spcBef>
              <a:spcAft>
                <a:spcPts val="0"/>
              </a:spcAft>
              <a:buNone/>
            </a:pPr>
            <a:r>
              <a:t>/Users/andressalguero/Documents/housenumbers/zora-harness/README.md</a:t>
            </a:r>
            <a:endParaRPr/>
          </a:p>
          <a:p xmlns:a="http://schemas.openxmlformats.org/drawingml/2006/main">
            <a:pPr marL="0" lvl="0" indent="0" algn="l">
              <a:spcBef>
                <a:spcPts val="0"/>
              </a:spcBef>
              <a:spcAft>
                <a:spcPts val="0"/>
              </a:spcAft>
              <a:buNone/>
            </a:pPr>
            <a:r>
              <a:t>/Users/andressalguero/Documents/housenumbers/zora-pantheon/.agents/skills/orchestrate/SKILL.md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aa7b1ca43a4a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8f127b038a4f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7b0244becb4b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23e1cbbce14b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cae85fb1d454f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c409cfc0a0f4ae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e33e69680c641e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fbb757e30734eb1"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66f1b325074da0" /><Relationship Type="http://schemas.openxmlformats.org/officeDocument/2006/relationships/slideLayout" Target="/ppt/slideLayouts/slideLayout1.xml" Id="Rbff03d286b34410c" /><Relationship Type="http://schemas.openxmlformats.org/officeDocument/2006/relationships/slideLayout" Target="/ppt/slideLayouts/slideLayout2.xml" Id="R0f134950e1344b2c" /><Relationship Type="http://schemas.openxmlformats.org/officeDocument/2006/relationships/slideLayout" Target="/ppt/slideLayouts/slideLayout3.xml" Id="R5aab5410226144a8" /><Relationship Type="http://schemas.openxmlformats.org/officeDocument/2006/relationships/slideLayout" Target="/ppt/slideLayouts/slideLayout4.xml" Id="Rf646e63e4ac34a37" /><Relationship Type="http://schemas.openxmlformats.org/officeDocument/2006/relationships/slideLayout" Target="/ppt/slideLayouts/slideLayout5.xml" Id="Raf700dce9989455f" /><Relationship Type="http://schemas.openxmlformats.org/officeDocument/2006/relationships/slideLayout" Target="/ppt/slideLayouts/slideLayout6.xml" Id="Rf5293b7fb4cf4f4a" /><Relationship Type="http://schemas.openxmlformats.org/officeDocument/2006/relationships/slideLayout" Target="/ppt/slideLayouts/slideLayout7.xml" Id="R937555dc0d6e44bb" /><Relationship Type="http://schemas.openxmlformats.org/officeDocument/2006/relationships/slideLayout" Target="/ppt/slideLayouts/slideLayout8.xml" Id="R98f0b36cb024484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f03d286b34410c"/>
    <p:sldLayoutId xmlns:r="http://schemas.openxmlformats.org/officeDocument/2006/relationships" id="2147483650" r:id="R0f134950e1344b2c"/>
    <p:sldLayoutId xmlns:r="http://schemas.openxmlformats.org/officeDocument/2006/relationships" id="2147483651" r:id="R5aab5410226144a8"/>
    <p:sldLayoutId xmlns:r="http://schemas.openxmlformats.org/officeDocument/2006/relationships" id="2147483652" r:id="Rf646e63e4ac34a37"/>
    <p:sldLayoutId xmlns:r="http://schemas.openxmlformats.org/officeDocument/2006/relationships" id="2147483653" r:id="Raf700dce9989455f"/>
    <p:sldLayoutId xmlns:r="http://schemas.openxmlformats.org/officeDocument/2006/relationships" id="2147483654" r:id="Rf5293b7fb4cf4f4a"/>
    <p:sldLayoutId xmlns:r="http://schemas.openxmlformats.org/officeDocument/2006/relationships" id="2147483655" r:id="R937555dc0d6e44bb"/>
    <p:sldLayoutId xmlns:r="http://schemas.openxmlformats.org/officeDocument/2006/relationships" id="2147483656" r:id="R98f0b36cb024484c"/>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7bc0fd16344918" /><Relationship Type="http://schemas.openxmlformats.org/officeDocument/2006/relationships/image" Target="/ppt/media/image.png" Id="R7570632e0ab44924" /><Relationship Type="http://schemas.openxmlformats.org/officeDocument/2006/relationships/notesSlide" Target="/ppt/notesSlides/notesSlide1.xml" Id="R12dc3b15682844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a00df9bebd45e6" /><Relationship Type="http://schemas.openxmlformats.org/officeDocument/2006/relationships/image" Target="/ppt/media/image2.png" Id="R1cdbf451645d495b" /><Relationship Type="http://schemas.openxmlformats.org/officeDocument/2006/relationships/notesSlide" Target="/ppt/notesSlides/notesSlide2.xml" Id="R4f6a83977f4244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813a19406014762" /><Relationship Type="http://schemas.openxmlformats.org/officeDocument/2006/relationships/image" Target="/ppt/media/image3.png" Id="R6f7a00e6bc974e9b" /><Relationship Type="http://schemas.openxmlformats.org/officeDocument/2006/relationships/notesSlide" Target="/ppt/notesSlides/notesSlide3.xml" Id="R67840d40e0794a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ea7bc9c5a84c59" /><Relationship Type="http://schemas.openxmlformats.org/officeDocument/2006/relationships/hyperlink" Target="https://www.anthropic.com/engineering/multi-agent-research-system" TargetMode="External" Id="Rc823cb13965d4856" /><Relationship Type="http://schemas.openxmlformats.org/officeDocument/2006/relationships/notesSlide" Target="/ppt/notesSlides/notesSlide4.xml" Id="Rd642e234bf2d43b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C39677-705F-4096-9829-815FA9E52696}"/>
              </a:ext>
            </a:extLst>
          </p:cNvPr>
          <p:cNvSpPr>
            <a:spLocks xmlns:a="http://schemas.openxmlformats.org/drawingml/2006/main" noGrp="1"/>
          </p:cNvSpPr>
          <p:nvPr/>
        </p:nvSpPr>
        <p:spPr>
          <a:xfrm xmlns:a="http://schemas.openxmlformats.org/drawingml/2006/main">
            <a:off x="0" y="0"/>
            <a:ext cx="12192000" cy="10096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650A28-5349-4F03-B61F-3EDE5634A8C2}"/>
              </a:ext>
            </a:extLst>
          </p:cNvPr>
          <p:cNvSpPr>
            <a:spLocks xmlns:a="http://schemas.openxmlformats.org/drawingml/2006/main" noGrp="1"/>
          </p:cNvSpPr>
          <p:nvPr/>
        </p:nvSpPr>
        <p:spPr>
          <a:xfrm xmlns:a="http://schemas.openxmlformats.org/drawingml/2006/main">
            <a:off x="495300" y="323850"/>
            <a:ext cx="1581150" cy="32385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txBody>
          <a:bodyPr xmlns:a="http://schemas.openxmlformats.org/drawingml/2006/main" lIns="95250" tIns="0" rIns="95250" bIns="0" anchor="ctr">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THE DELIVERY LOOP</a:t>
            </a:r>
          </a:p>
        </p:txBody>
      </p:sp>
      <p:sp>
        <p:nvSpPr>
          <p:cNvPr id="3" name="">
            <a:extLst xmlns:a="http://schemas.openxmlformats.org/drawingml/2006/main">
              <a:ext uri="{FF2B5EF4-FFF2-40B4-BE49-F238E27FC236}">
                <a16:creationId xmlns:a16="http://schemas.microsoft.com/office/drawing/2014/main" id="{DD6B1B14-23CB-4ACE-BD4E-F8F7F7FE5393}"/>
              </a:ext>
            </a:extLst>
          </p:cNvPr>
          <p:cNvSpPr>
            <a:spLocks xmlns:a="http://schemas.openxmlformats.org/drawingml/2006/main" noGrp="1"/>
          </p:cNvSpPr>
          <p:nvPr/>
        </p:nvSpPr>
        <p:spPr>
          <a:xfrm xmlns:a="http://schemas.openxmlformats.org/drawingml/2006/main">
            <a:off x="2343150" y="238125"/>
            <a:ext cx="685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How the harness guides delivery</a:t>
            </a:r>
          </a:p>
        </p:txBody>
      </p:sp>
      <p:sp>
        <p:nvSpPr>
          <p:cNvPr id="4" name="">
            <a:extLst xmlns:a="http://schemas.openxmlformats.org/drawingml/2006/main">
              <a:ext uri="{FF2B5EF4-FFF2-40B4-BE49-F238E27FC236}">
                <a16:creationId xmlns:a16="http://schemas.microsoft.com/office/drawing/2014/main" id="{4DDEAA7B-58DD-4365-88A5-336D2B7A668C}"/>
              </a:ext>
            </a:extLst>
          </p:cNvPr>
          <p:cNvSpPr>
            <a:spLocks xmlns:a="http://schemas.openxmlformats.org/drawingml/2006/main" noGrp="1"/>
          </p:cNvSpPr>
          <p:nvPr/>
        </p:nvSpPr>
        <p:spPr>
          <a:xfrm xmlns:a="http://schemas.openxmlformats.org/drawingml/2006/main">
            <a:off x="2343150" y="6667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D7E7F8"/>
                </a:solidFill>
                <a:latin typeface="Helvetica Neue"/>
                <a:ea typeface="Helvetica Neue"/>
                <a:cs typeface="Helvetica Neue"/>
              </a:defRPr>
            </a:pPr>
            <a:r>
              <a:rPr sz="1275" b="0">
                <a:solidFill>
                  <a:srgbClr val="D7E7F8"/>
                </a:solidFill>
                <a:latin typeface="Helvetica Neue"/>
                <a:ea typeface="Helvetica Neue"/>
                <a:cs typeface="Helvetica Neue"/>
              </a:rPr>
              <a:t>A shared view of who plans, builds, checks and decides</a:t>
            </a:r>
          </a:p>
        </p:txBody>
      </p:sp>
      <p:sp>
        <p:nvSpPr>
          <p:cNvPr id="5" name="">
            <a:extLst xmlns:a="http://schemas.openxmlformats.org/drawingml/2006/main">
              <a:ext uri="{FF2B5EF4-FFF2-40B4-BE49-F238E27FC236}">
                <a16:creationId xmlns:a16="http://schemas.microsoft.com/office/drawing/2014/main" id="{8928DBC0-BDB3-48DB-B0A8-C58C59C34810}"/>
              </a:ext>
            </a:extLst>
          </p:cNvPr>
          <p:cNvSpPr>
            <a:spLocks xmlns:a="http://schemas.openxmlformats.org/drawingml/2006/main" noGrp="1"/>
          </p:cNvSpPr>
          <p:nvPr/>
        </p:nvSpPr>
        <p:spPr>
          <a:xfrm xmlns:a="http://schemas.openxmlformats.org/drawingml/2006/main">
            <a:off x="476250" y="1295400"/>
            <a:ext cx="11239500" cy="4495800"/>
          </a:xfrm>
          <a:prstGeom xmlns:a="http://schemas.openxmlformats.org/drawingml/2006/main" prst="roundRect">
            <a:avLst>
              <a:gd name="adj" fmla="val 5508"/>
            </a:avLst>
          </a:prstGeom>
          <a:solidFill xmlns:a="http://schemas.openxmlformats.org/drawingml/2006/main">
            <a:srgbClr val="FFF7EC"/>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570632e0ab44924"/>
          <a:stretch xmlns:a="http://schemas.openxmlformats.org/drawingml/2006/main"/>
        </p:blipFill>
        <p:spPr>
          <a:xfrm xmlns:a="http://schemas.openxmlformats.org/drawingml/2006/main">
            <a:off x="2852738" y="1362075"/>
            <a:ext cx="6486525" cy="4324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0F90F43-D708-4CB4-A8B0-505A9D5472CC}"/>
              </a:ext>
            </a:extLst>
          </p:cNvPr>
          <p:cNvSpPr>
            <a:spLocks xmlns:a="http://schemas.openxmlformats.org/drawingml/2006/main" noGrp="1"/>
          </p:cNvSpPr>
          <p:nvPr/>
        </p:nvSpPr>
        <p:spPr>
          <a:xfrm xmlns:a="http://schemas.openxmlformats.org/drawingml/2006/main">
            <a:off x="609600" y="6000750"/>
            <a:ext cx="2571750" cy="323850"/>
          </a:xfrm>
          <a:prstGeom xmlns:a="http://schemas.openxmlformats.org/drawingml/2006/main" prst="roundRect">
            <a:avLst>
              <a:gd name="adj" fmla="val 50000"/>
            </a:avLst>
          </a:prstGeom>
          <a:solidFill xmlns:a="http://schemas.openxmlformats.org/drawingml/2006/main">
            <a:srgbClr val="7654D8"/>
          </a:solidFill>
          <a:ln xmlns:a="http://schemas.openxmlformats.org/drawingml/2006/main" w="0">
            <a:noFill/>
          </a:ln>
        </p:spPr>
        <p:txBody>
          <a:bodyPr xmlns:a="http://schemas.openxmlformats.org/drawingml/2006/main" lIns="95250" tIns="0" rIns="95250" bIns="0" anchor="ctr">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ONE MUTATING AGENT AT A TIME</a:t>
            </a:r>
          </a:p>
        </p:txBody>
      </p:sp>
      <p:sp>
        <p:nvSpPr>
          <p:cNvPr id="8" name="">
            <a:extLst xmlns:a="http://schemas.openxmlformats.org/drawingml/2006/main">
              <a:ext uri="{FF2B5EF4-FFF2-40B4-BE49-F238E27FC236}">
                <a16:creationId xmlns:a16="http://schemas.microsoft.com/office/drawing/2014/main" id="{220C3BA5-088A-44B9-856E-194C3F4F73CB}"/>
              </a:ext>
            </a:extLst>
          </p:cNvPr>
          <p:cNvSpPr>
            <a:spLocks xmlns:a="http://schemas.openxmlformats.org/drawingml/2006/main" noGrp="1"/>
          </p:cNvSpPr>
          <p:nvPr/>
        </p:nvSpPr>
        <p:spPr>
          <a:xfrm xmlns:a="http://schemas.openxmlformats.org/drawingml/2006/main">
            <a:off x="3409950" y="6029325"/>
            <a:ext cx="685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F2933"/>
                </a:solidFill>
                <a:latin typeface="Helvetica Neue"/>
                <a:ea typeface="Helvetica Neue"/>
                <a:cs typeface="Helvetica Neue"/>
              </a:defRPr>
            </a:pPr>
            <a:r>
              <a:rPr sz="1575" b="1">
                <a:solidFill>
                  <a:srgbClr val="1F2933"/>
                </a:solidFill>
                <a:latin typeface="Helvetica Neue"/>
                <a:ea typeface="Helvetica Neue"/>
                <a:cs typeface="Helvetica Neue"/>
              </a:rPr>
              <a:t>The lead keeps responsibility for scope, evidence and the final decision.</a:t>
            </a:r>
          </a:p>
        </p:txBody>
      </p:sp>
      <p:sp>
        <p:nvSpPr>
          <p:cNvPr id="9" name="">
            <a:extLst xmlns:a="http://schemas.openxmlformats.org/drawingml/2006/main">
              <a:ext uri="{FF2B5EF4-FFF2-40B4-BE49-F238E27FC236}">
                <a16:creationId xmlns:a16="http://schemas.microsoft.com/office/drawing/2014/main" id="{1F407281-2F6E-455B-B469-31C911B7204D}"/>
              </a:ext>
            </a:extLst>
          </p:cNvPr>
          <p:cNvSpPr>
            <a:spLocks xmlns:a="http://schemas.openxmlformats.org/drawingml/2006/main" noGrp="1"/>
          </p:cNvSpPr>
          <p:nvPr/>
        </p:nvSpPr>
        <p:spPr>
          <a:xfrm xmlns:a="http://schemas.openxmlformats.org/drawingml/2006/main">
            <a:off x="11144250" y="63817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C6B7A"/>
                </a:solidFill>
                <a:latin typeface="Helvetica Neue"/>
                <a:ea typeface="Helvetica Neue"/>
                <a:cs typeface="Helvetica Neue"/>
              </a:defRPr>
            </a:pPr>
            <a:r>
              <a:rPr sz="1125" b="0">
                <a:solidFill>
                  <a:srgbClr val="5C6B7A"/>
                </a:solidFill>
                <a:latin typeface="Helvetica Neue"/>
                <a:ea typeface="Helvetica Neue"/>
                <a:cs typeface="Helvetica Neue"/>
              </a:rPr>
              <a:t>01</a:t>
            </a:r>
          </a:p>
        </p:txBody>
      </p:sp>
    </p:spTree>
    <p:extLst>
      <p:ext uri="{BB962C8B-B14F-4D97-AF65-F5344CB8AC3E}">
        <p14:creationId xmlns:p14="http://schemas.microsoft.com/office/powerpoint/2010/main" val="7938977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7EAC1FD-8C5E-4FE8-9269-7A6E67E86CA1}"/>
              </a:ext>
            </a:extLst>
          </p:cNvPr>
          <p:cNvSpPr>
            <a:spLocks xmlns:a="http://schemas.openxmlformats.org/drawingml/2006/main" noGrp="1"/>
          </p:cNvSpPr>
          <p:nvPr/>
        </p:nvSpPr>
        <p:spPr>
          <a:xfrm xmlns:a="http://schemas.openxmlformats.org/drawingml/2006/main">
            <a:off x="590550" y="476250"/>
            <a:ext cx="1619250" cy="32385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txBody>
          <a:bodyPr xmlns:a="http://schemas.openxmlformats.org/drawingml/2006/main" lIns="95250" tIns="0" rIns="95250" bIns="0" anchor="ctr">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ORCHESTRATION</a:t>
            </a:r>
          </a:p>
        </p:txBody>
      </p:sp>
      <p:sp>
        <p:nvSpPr>
          <p:cNvPr id="2" name="">
            <a:extLst xmlns:a="http://schemas.openxmlformats.org/drawingml/2006/main">
              <a:ext uri="{FF2B5EF4-FFF2-40B4-BE49-F238E27FC236}">
                <a16:creationId xmlns:a16="http://schemas.microsoft.com/office/drawing/2014/main" id="{CA6C601F-BAB3-43DB-9857-50E46858E758}"/>
              </a:ext>
            </a:extLst>
          </p:cNvPr>
          <p:cNvSpPr>
            <a:spLocks xmlns:a="http://schemas.openxmlformats.org/drawingml/2006/main" noGrp="1"/>
          </p:cNvSpPr>
          <p:nvPr/>
        </p:nvSpPr>
        <p:spPr>
          <a:xfrm xmlns:a="http://schemas.openxmlformats.org/drawingml/2006/main">
            <a:off x="590550" y="962025"/>
            <a:ext cx="5429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02A43"/>
                </a:solidFill>
                <a:latin typeface="Helvetica Neue"/>
                <a:ea typeface="Helvetica Neue"/>
                <a:cs typeface="Helvetica Neue"/>
              </a:defRPr>
            </a:pPr>
            <a:r>
              <a:rPr sz="3000" b="1">
                <a:solidFill>
                  <a:srgbClr val="102A43"/>
                </a:solidFill>
                <a:latin typeface="Helvetica Neue"/>
                <a:ea typeface="Helvetica Neue"/>
                <a:cs typeface="Helvetica Neue"/>
              </a:rPr>
              <a:t>One person stays in control</a:t>
            </a:r>
          </a:p>
        </p:txBody>
      </p:sp>
      <p:sp>
        <p:nvSpPr>
          <p:cNvPr id="3" name="">
            <a:extLst xmlns:a="http://schemas.openxmlformats.org/drawingml/2006/main">
              <a:ext uri="{FF2B5EF4-FFF2-40B4-BE49-F238E27FC236}">
                <a16:creationId xmlns:a16="http://schemas.microsoft.com/office/drawing/2014/main" id="{DDE5C1E9-9EEE-467F-9569-7E14926B6776}"/>
              </a:ext>
            </a:extLst>
          </p:cNvPr>
          <p:cNvSpPr>
            <a:spLocks xmlns:a="http://schemas.openxmlformats.org/drawingml/2006/main" noGrp="1"/>
          </p:cNvSpPr>
          <p:nvPr/>
        </p:nvSpPr>
        <p:spPr>
          <a:xfrm xmlns:a="http://schemas.openxmlformats.org/drawingml/2006/main">
            <a:off x="590550" y="1914525"/>
            <a:ext cx="5476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C6B7A"/>
                </a:solidFill>
                <a:latin typeface="Helvetica Neue"/>
                <a:ea typeface="Helvetica Neue"/>
                <a:cs typeface="Helvetica Neue"/>
              </a:defRPr>
            </a:pPr>
            <a:r>
              <a:rPr sz="1650" b="0">
                <a:solidFill>
                  <a:srgbClr val="5C6B7A"/>
                </a:solidFill>
                <a:latin typeface="Helvetica Neue"/>
                <a:ea typeface="Helvetica Neue"/>
                <a:cs typeface="Helvetica Neue"/>
              </a:rPr>
              <a:t>The harness gives each agent one clear role while the lead keeps the full picture.</a:t>
            </a:r>
          </a:p>
        </p:txBody>
      </p:sp>
      <p:sp>
        <p:nvSpPr>
          <p:cNvPr id="4" name="">
            <a:extLst xmlns:a="http://schemas.openxmlformats.org/drawingml/2006/main">
              <a:ext uri="{FF2B5EF4-FFF2-40B4-BE49-F238E27FC236}">
                <a16:creationId xmlns:a16="http://schemas.microsoft.com/office/drawing/2014/main" id="{BEEB030D-CF71-494E-9070-0B6B819B878A}"/>
              </a:ext>
            </a:extLst>
          </p:cNvPr>
          <p:cNvSpPr>
            <a:spLocks xmlns:a="http://schemas.openxmlformats.org/drawingml/2006/main" noGrp="1"/>
          </p:cNvSpPr>
          <p:nvPr/>
        </p:nvSpPr>
        <p:spPr>
          <a:xfrm xmlns:a="http://schemas.openxmlformats.org/drawingml/2006/main">
            <a:off x="590550" y="2571750"/>
            <a:ext cx="5238750" cy="1162050"/>
          </a:xfrm>
          <a:prstGeom xmlns:a="http://schemas.openxmlformats.org/drawingml/2006/main" prst="roundRect">
            <a:avLst>
              <a:gd name="adj" fmla="val 18033"/>
            </a:avLst>
          </a:prstGeom>
          <a:solidFill xmlns:a="http://schemas.openxmlformats.org/drawingml/2006/main">
            <a:srgbClr val="FFFFFF"/>
          </a:solidFill>
          <a:ln xmlns:a="http://schemas.openxmlformats.org/drawingml/2006/main" w="9525">
            <a:solidFill>
              <a:srgbClr val="D8E1EA"/>
            </a:solidFill>
          </a:ln>
        </p:spPr>
      </p:sp>
      <p:sp>
        <p:nvSpPr>
          <p:cNvPr id="5" name="">
            <a:extLst xmlns:a="http://schemas.openxmlformats.org/drawingml/2006/main">
              <a:ext uri="{FF2B5EF4-FFF2-40B4-BE49-F238E27FC236}">
                <a16:creationId xmlns:a16="http://schemas.microsoft.com/office/drawing/2014/main" id="{1052A0A0-668B-42CD-99FE-A483C493C383}"/>
              </a:ext>
            </a:extLst>
          </p:cNvPr>
          <p:cNvSpPr>
            <a:spLocks xmlns:a="http://schemas.openxmlformats.org/drawingml/2006/main" noGrp="1"/>
          </p:cNvSpPr>
          <p:nvPr/>
        </p:nvSpPr>
        <p:spPr>
          <a:xfrm xmlns:a="http://schemas.openxmlformats.org/drawingml/2006/main">
            <a:off x="590550" y="2571750"/>
            <a:ext cx="76200" cy="116205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2823DC-5012-40B5-B3A9-7A2353270F48}"/>
              </a:ext>
            </a:extLst>
          </p:cNvPr>
          <p:cNvSpPr>
            <a:spLocks xmlns:a="http://schemas.openxmlformats.org/drawingml/2006/main" noGrp="1"/>
          </p:cNvSpPr>
          <p:nvPr/>
        </p:nvSpPr>
        <p:spPr>
          <a:xfrm xmlns:a="http://schemas.openxmlformats.org/drawingml/2006/main">
            <a:off x="857250" y="2781300"/>
            <a:ext cx="4781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The lead owns the map</a:t>
            </a:r>
          </a:p>
        </p:txBody>
      </p:sp>
      <p:sp>
        <p:nvSpPr>
          <p:cNvPr id="7" name="">
            <a:extLst xmlns:a="http://schemas.openxmlformats.org/drawingml/2006/main">
              <a:ext uri="{FF2B5EF4-FFF2-40B4-BE49-F238E27FC236}">
                <a16:creationId xmlns:a16="http://schemas.microsoft.com/office/drawing/2014/main" id="{C803773F-EFC3-42A7-9ABC-C531970C8739}"/>
              </a:ext>
            </a:extLst>
          </p:cNvPr>
          <p:cNvSpPr>
            <a:spLocks xmlns:a="http://schemas.openxmlformats.org/drawingml/2006/main" noGrp="1"/>
          </p:cNvSpPr>
          <p:nvPr/>
        </p:nvSpPr>
        <p:spPr>
          <a:xfrm xmlns:a="http://schemas.openxmlformats.org/drawingml/2006/main">
            <a:off x="857250" y="3124200"/>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C6B7A"/>
                </a:solidFill>
                <a:latin typeface="Helvetica Neue"/>
                <a:ea typeface="Helvetica Neue"/>
                <a:cs typeface="Helvetica Neue"/>
              </a:defRPr>
            </a:pPr>
            <a:r>
              <a:rPr sz="1350" b="0">
                <a:solidFill>
                  <a:srgbClr val="5C6B7A"/>
                </a:solidFill>
                <a:latin typeface="Helvetica Neue"/>
                <a:ea typeface="Helvetica Neue"/>
                <a:cs typeface="Helvetica Neue"/>
              </a:rPr>
              <a:t>Scope, decisions, evidence and the next action stay visible in a working ledger.</a:t>
            </a:r>
          </a:p>
        </p:txBody>
      </p:sp>
      <p:sp>
        <p:nvSpPr>
          <p:cNvPr id="8" name="">
            <a:extLst xmlns:a="http://schemas.openxmlformats.org/drawingml/2006/main">
              <a:ext uri="{FF2B5EF4-FFF2-40B4-BE49-F238E27FC236}">
                <a16:creationId xmlns:a16="http://schemas.microsoft.com/office/drawing/2014/main" id="{106083CF-C13F-4FAF-8622-AC78F9CF6CEE}"/>
              </a:ext>
            </a:extLst>
          </p:cNvPr>
          <p:cNvSpPr>
            <a:spLocks xmlns:a="http://schemas.openxmlformats.org/drawingml/2006/main" noGrp="1"/>
          </p:cNvSpPr>
          <p:nvPr/>
        </p:nvSpPr>
        <p:spPr>
          <a:xfrm xmlns:a="http://schemas.openxmlformats.org/drawingml/2006/main">
            <a:off x="590550" y="3886200"/>
            <a:ext cx="5238750" cy="1162050"/>
          </a:xfrm>
          <a:prstGeom xmlns:a="http://schemas.openxmlformats.org/drawingml/2006/main" prst="roundRect">
            <a:avLst>
              <a:gd name="adj" fmla="val 18033"/>
            </a:avLst>
          </a:prstGeom>
          <a:solidFill xmlns:a="http://schemas.openxmlformats.org/drawingml/2006/main">
            <a:srgbClr val="FFFFFF"/>
          </a:solidFill>
          <a:ln xmlns:a="http://schemas.openxmlformats.org/drawingml/2006/main" w="9525">
            <a:solidFill>
              <a:srgbClr val="D8E1EA"/>
            </a:solidFill>
          </a:ln>
        </p:spPr>
      </p:sp>
      <p:sp>
        <p:nvSpPr>
          <p:cNvPr id="9" name="">
            <a:extLst xmlns:a="http://schemas.openxmlformats.org/drawingml/2006/main">
              <a:ext uri="{FF2B5EF4-FFF2-40B4-BE49-F238E27FC236}">
                <a16:creationId xmlns:a16="http://schemas.microsoft.com/office/drawing/2014/main" id="{9BEB309D-0BF8-4CB7-9A6A-7B4F71DF023A}"/>
              </a:ext>
            </a:extLst>
          </p:cNvPr>
          <p:cNvSpPr>
            <a:spLocks xmlns:a="http://schemas.openxmlformats.org/drawingml/2006/main" noGrp="1"/>
          </p:cNvSpPr>
          <p:nvPr/>
        </p:nvSpPr>
        <p:spPr>
          <a:xfrm xmlns:a="http://schemas.openxmlformats.org/drawingml/2006/main">
            <a:off x="590550" y="3886200"/>
            <a:ext cx="76200" cy="1162050"/>
          </a:xfrm>
          <a:prstGeom xmlns:a="http://schemas.openxmlformats.org/drawingml/2006/main" prst="roundRect">
            <a:avLst>
              <a:gd name="adj" fmla="val 50000"/>
            </a:avLst>
          </a:prstGeom>
          <a:solidFill xmlns:a="http://schemas.openxmlformats.org/drawingml/2006/main">
            <a:srgbClr val="7654D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4E55F6-5172-45F1-9A2F-E00ECD846580}"/>
              </a:ext>
            </a:extLst>
          </p:cNvPr>
          <p:cNvSpPr>
            <a:spLocks xmlns:a="http://schemas.openxmlformats.org/drawingml/2006/main" noGrp="1"/>
          </p:cNvSpPr>
          <p:nvPr/>
        </p:nvSpPr>
        <p:spPr>
          <a:xfrm xmlns:a="http://schemas.openxmlformats.org/drawingml/2006/main">
            <a:off x="857250" y="4095750"/>
            <a:ext cx="4781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Each specialist gets a focused brief</a:t>
            </a:r>
          </a:p>
        </p:txBody>
      </p:sp>
      <p:sp>
        <p:nvSpPr>
          <p:cNvPr id="11" name="">
            <a:extLst xmlns:a="http://schemas.openxmlformats.org/drawingml/2006/main">
              <a:ext uri="{FF2B5EF4-FFF2-40B4-BE49-F238E27FC236}">
                <a16:creationId xmlns:a16="http://schemas.microsoft.com/office/drawing/2014/main" id="{259E11BA-0BD4-483A-A0D8-2398D377290A}"/>
              </a:ext>
            </a:extLst>
          </p:cNvPr>
          <p:cNvSpPr>
            <a:spLocks xmlns:a="http://schemas.openxmlformats.org/drawingml/2006/main" noGrp="1"/>
          </p:cNvSpPr>
          <p:nvPr/>
        </p:nvSpPr>
        <p:spPr>
          <a:xfrm xmlns:a="http://schemas.openxmlformats.org/drawingml/2006/main">
            <a:off x="857250" y="4438650"/>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C6B7A"/>
                </a:solidFill>
                <a:latin typeface="Helvetica Neue"/>
                <a:ea typeface="Helvetica Neue"/>
                <a:cs typeface="Helvetica Neue"/>
              </a:defRPr>
            </a:pPr>
            <a:r>
              <a:rPr sz="1350" b="0">
                <a:solidFill>
                  <a:srgbClr val="5C6B7A"/>
                </a:solidFill>
                <a:latin typeface="Helvetica Neue"/>
                <a:ea typeface="Helvetica Neue"/>
                <a:cs typeface="Helvetica Neue"/>
              </a:rPr>
              <a:t>A plan for the builder. Requirements and a diff for an independent validator.</a:t>
            </a:r>
          </a:p>
        </p:txBody>
      </p:sp>
      <p:sp>
        <p:nvSpPr>
          <p:cNvPr id="12" name="">
            <a:extLst xmlns:a="http://schemas.openxmlformats.org/drawingml/2006/main">
              <a:ext uri="{FF2B5EF4-FFF2-40B4-BE49-F238E27FC236}">
                <a16:creationId xmlns:a16="http://schemas.microsoft.com/office/drawing/2014/main" id="{33586CE0-8E11-40E9-BBC4-BC8F584C06EE}"/>
              </a:ext>
            </a:extLst>
          </p:cNvPr>
          <p:cNvSpPr>
            <a:spLocks xmlns:a="http://schemas.openxmlformats.org/drawingml/2006/main" noGrp="1"/>
          </p:cNvSpPr>
          <p:nvPr/>
        </p:nvSpPr>
        <p:spPr>
          <a:xfrm xmlns:a="http://schemas.openxmlformats.org/drawingml/2006/main">
            <a:off x="590550" y="5200650"/>
            <a:ext cx="5238750" cy="1162050"/>
          </a:xfrm>
          <a:prstGeom xmlns:a="http://schemas.openxmlformats.org/drawingml/2006/main" prst="roundRect">
            <a:avLst>
              <a:gd name="adj" fmla="val 18033"/>
            </a:avLst>
          </a:prstGeom>
          <a:solidFill xmlns:a="http://schemas.openxmlformats.org/drawingml/2006/main">
            <a:srgbClr val="FFFFFF"/>
          </a:solidFill>
          <a:ln xmlns:a="http://schemas.openxmlformats.org/drawingml/2006/main" w="9525">
            <a:solidFill>
              <a:srgbClr val="D8E1EA"/>
            </a:solidFill>
          </a:ln>
        </p:spPr>
      </p:sp>
      <p:sp>
        <p:nvSpPr>
          <p:cNvPr id="13" name="">
            <a:extLst xmlns:a="http://schemas.openxmlformats.org/drawingml/2006/main">
              <a:ext uri="{FF2B5EF4-FFF2-40B4-BE49-F238E27FC236}">
                <a16:creationId xmlns:a16="http://schemas.microsoft.com/office/drawing/2014/main" id="{59745B93-29A4-4D0B-9D5C-7F7F6FCEF90B}"/>
              </a:ext>
            </a:extLst>
          </p:cNvPr>
          <p:cNvSpPr>
            <a:spLocks xmlns:a="http://schemas.openxmlformats.org/drawingml/2006/main" noGrp="1"/>
          </p:cNvSpPr>
          <p:nvPr/>
        </p:nvSpPr>
        <p:spPr>
          <a:xfrm xmlns:a="http://schemas.openxmlformats.org/drawingml/2006/main">
            <a:off x="590550" y="5200650"/>
            <a:ext cx="76200" cy="1162050"/>
          </a:xfrm>
          <a:prstGeom xmlns:a="http://schemas.openxmlformats.org/drawingml/2006/main" prst="roundRect">
            <a:avLst>
              <a:gd name="adj" fmla="val 50000"/>
            </a:avLst>
          </a:prstGeom>
          <a:solidFill xmlns:a="http://schemas.openxmlformats.org/drawingml/2006/main">
            <a:srgbClr val="169C6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E7BE03A-7F13-4130-A3C4-E97E599B7B82}"/>
              </a:ext>
            </a:extLst>
          </p:cNvPr>
          <p:cNvSpPr>
            <a:spLocks xmlns:a="http://schemas.openxmlformats.org/drawingml/2006/main" noGrp="1"/>
          </p:cNvSpPr>
          <p:nvPr/>
        </p:nvSpPr>
        <p:spPr>
          <a:xfrm xmlns:a="http://schemas.openxmlformats.org/drawingml/2006/main">
            <a:off x="857250" y="5410200"/>
            <a:ext cx="4781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New conversations start safely</a:t>
            </a:r>
          </a:p>
        </p:txBody>
      </p:sp>
      <p:sp>
        <p:nvSpPr>
          <p:cNvPr id="15" name="">
            <a:extLst xmlns:a="http://schemas.openxmlformats.org/drawingml/2006/main">
              <a:ext uri="{FF2B5EF4-FFF2-40B4-BE49-F238E27FC236}">
                <a16:creationId xmlns:a16="http://schemas.microsoft.com/office/drawing/2014/main" id="{C431C0A3-81D7-4B21-B7A8-C98367CFEE1D}"/>
              </a:ext>
            </a:extLst>
          </p:cNvPr>
          <p:cNvSpPr>
            <a:spLocks xmlns:a="http://schemas.openxmlformats.org/drawingml/2006/main" noGrp="1"/>
          </p:cNvSpPr>
          <p:nvPr/>
        </p:nvSpPr>
        <p:spPr>
          <a:xfrm xmlns:a="http://schemas.openxmlformats.org/drawingml/2006/main">
            <a:off x="857250" y="5753100"/>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C6B7A"/>
                </a:solidFill>
                <a:latin typeface="Helvetica Neue"/>
                <a:ea typeface="Helvetica Neue"/>
                <a:cs typeface="Helvetica Neue"/>
              </a:defRPr>
            </a:pPr>
            <a:r>
              <a:rPr sz="1350" b="0">
                <a:solidFill>
                  <a:srgbClr val="5C6B7A"/>
                </a:solidFill>
                <a:latin typeface="Helvetica Neue"/>
                <a:ea typeface="Helvetica Neue"/>
                <a:cs typeface="Helvetica Neue"/>
              </a:rPr>
              <a:t>Checkpoint the work, check what is live, then continue from the ledger and Git state.</a:t>
            </a:r>
          </a:p>
        </p:txBody>
      </p:sp>
      <p:sp>
        <p:nvSpPr>
          <p:cNvPr id="16" name="">
            <a:extLst xmlns:a="http://schemas.openxmlformats.org/drawingml/2006/main">
              <a:ext uri="{FF2B5EF4-FFF2-40B4-BE49-F238E27FC236}">
                <a16:creationId xmlns:a16="http://schemas.microsoft.com/office/drawing/2014/main" id="{A04AC771-5C37-48E5-A03C-86EBDFAA35FB}"/>
              </a:ext>
            </a:extLst>
          </p:cNvPr>
          <p:cNvSpPr>
            <a:spLocks xmlns:a="http://schemas.openxmlformats.org/drawingml/2006/main" noGrp="1"/>
          </p:cNvSpPr>
          <p:nvPr/>
        </p:nvSpPr>
        <p:spPr>
          <a:xfrm xmlns:a="http://schemas.openxmlformats.org/drawingml/2006/main">
            <a:off x="6381750" y="847725"/>
            <a:ext cx="5191125" cy="5314950"/>
          </a:xfrm>
          <a:prstGeom xmlns:a="http://schemas.openxmlformats.org/drawingml/2006/main" prst="roundRect">
            <a:avLst>
              <a:gd name="adj" fmla="val 6606"/>
            </a:avLst>
          </a:prstGeom>
          <a:solidFill xmlns:a="http://schemas.openxmlformats.org/drawingml/2006/main">
            <a:srgbClr val="EDF6FF"/>
          </a:solidFill>
          <a:ln xmlns:a="http://schemas.openxmlformats.org/drawingml/2006/main" w="0">
            <a:no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cdbf451645d495b"/>
          <a:stretch xmlns:a="http://schemas.openxmlformats.org/drawingml/2006/main"/>
        </p:blipFill>
        <p:spPr>
          <a:xfrm xmlns:a="http://schemas.openxmlformats.org/drawingml/2006/main">
            <a:off x="6591300" y="1095375"/>
            <a:ext cx="4762500" cy="47625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8597E86D-5CAF-4641-80B5-219767C82A49}"/>
              </a:ext>
            </a:extLst>
          </p:cNvPr>
          <p:cNvSpPr>
            <a:spLocks xmlns:a="http://schemas.openxmlformats.org/drawingml/2006/main" noGrp="1"/>
          </p:cNvSpPr>
          <p:nvPr/>
        </p:nvSpPr>
        <p:spPr>
          <a:xfrm xmlns:a="http://schemas.openxmlformats.org/drawingml/2006/main">
            <a:off x="6715125" y="58102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Clear roles. Fresh perspective. Visible accountability.</a:t>
            </a:r>
          </a:p>
        </p:txBody>
      </p:sp>
      <p:sp>
        <p:nvSpPr>
          <p:cNvPr id="19" name="">
            <a:extLst xmlns:a="http://schemas.openxmlformats.org/drawingml/2006/main">
              <a:ext uri="{FF2B5EF4-FFF2-40B4-BE49-F238E27FC236}">
                <a16:creationId xmlns:a16="http://schemas.microsoft.com/office/drawing/2014/main" id="{B5CB665A-B17C-4926-B9FA-B576C15680C2}"/>
              </a:ext>
            </a:extLst>
          </p:cNvPr>
          <p:cNvSpPr>
            <a:spLocks xmlns:a="http://schemas.openxmlformats.org/drawingml/2006/main" noGrp="1"/>
          </p:cNvSpPr>
          <p:nvPr/>
        </p:nvSpPr>
        <p:spPr>
          <a:xfrm xmlns:a="http://schemas.openxmlformats.org/drawingml/2006/main">
            <a:off x="11144250" y="63817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C6B7A"/>
                </a:solidFill>
                <a:latin typeface="Helvetica Neue"/>
                <a:ea typeface="Helvetica Neue"/>
                <a:cs typeface="Helvetica Neue"/>
              </a:defRPr>
            </a:pPr>
            <a:r>
              <a:rPr sz="1125" b="0">
                <a:solidFill>
                  <a:srgbClr val="5C6B7A"/>
                </a:solidFill>
                <a:latin typeface="Helvetica Neue"/>
                <a:ea typeface="Helvetica Neue"/>
                <a:cs typeface="Helvetica Neue"/>
              </a:rPr>
              <a:t>02</a:t>
            </a:r>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1834000-CF2E-44B7-B954-14F96D52ABB2}"/>
              </a:ext>
            </a:extLst>
          </p:cNvPr>
          <p:cNvSpPr>
            <a:spLocks xmlns:a="http://schemas.openxmlformats.org/drawingml/2006/main" noGrp="1"/>
          </p:cNvSpPr>
          <p:nvPr/>
        </p:nvSpPr>
        <p:spPr>
          <a:xfrm xmlns:a="http://schemas.openxmlformats.org/drawingml/2006/main">
            <a:off x="590550" y="476250"/>
            <a:ext cx="1809750" cy="3238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txBody>
          <a:bodyPr xmlns:a="http://schemas.openxmlformats.org/drawingml/2006/main" lIns="95250" tIns="0" rIns="95250" bIns="0" anchor="ctr">
            <a:noAutofit/>
          </a:bodyPr>
          <a:lstStyle xmlns:a="http://schemas.openxmlformats.org/drawingml/2006/main"/>
          <a:p xmlns:a="http://schemas.openxmlformats.org/drawingml/2006/main">
            <a:pPr algn="ctr">
              <a:defRPr sz="1200" b="1">
                <a:solidFill>
                  <a:srgbClr val="102A43"/>
                </a:solidFill>
                <a:latin typeface="Helvetica Neue"/>
                <a:ea typeface="Helvetica Neue"/>
                <a:cs typeface="Helvetica Neue"/>
              </a:defRPr>
            </a:pPr>
            <a:r>
              <a:rPr sz="1200" b="1">
                <a:solidFill>
                  <a:srgbClr val="102A43"/>
                </a:solidFill>
                <a:latin typeface="Helvetica Neue"/>
                <a:ea typeface="Helvetica Neue"/>
                <a:cs typeface="Helvetica Neue"/>
              </a:rPr>
              <a:t>DECISION QUALITY</a:t>
            </a:r>
          </a:p>
        </p:txBody>
      </p:sp>
      <p:sp>
        <p:nvSpPr>
          <p:cNvPr id="2" name="">
            <a:extLst xmlns:a="http://schemas.openxmlformats.org/drawingml/2006/main">
              <a:ext uri="{FF2B5EF4-FFF2-40B4-BE49-F238E27FC236}">
                <a16:creationId xmlns:a16="http://schemas.microsoft.com/office/drawing/2014/main" id="{70DDA76D-3885-4BF3-AB15-DCDEBCBEAA4E}"/>
              </a:ext>
            </a:extLst>
          </p:cNvPr>
          <p:cNvSpPr>
            <a:spLocks xmlns:a="http://schemas.openxmlformats.org/drawingml/2006/main" noGrp="1"/>
          </p:cNvSpPr>
          <p:nvPr/>
        </p:nvSpPr>
        <p:spPr>
          <a:xfrm xmlns:a="http://schemas.openxmlformats.org/drawingml/2006/main">
            <a:off x="590550" y="962025"/>
            <a:ext cx="6715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102A43"/>
                </a:solidFill>
                <a:latin typeface="Helvetica Neue"/>
                <a:ea typeface="Helvetica Neue"/>
                <a:cs typeface="Helvetica Neue"/>
              </a:defRPr>
            </a:pPr>
            <a:r>
              <a:rPr sz="2925" b="1">
                <a:solidFill>
                  <a:srgbClr val="102A43"/>
                </a:solidFill>
                <a:latin typeface="Helvetica Neue"/>
                <a:ea typeface="Helvetica Neue"/>
                <a:cs typeface="Helvetica Neue"/>
              </a:rPr>
              <a:t>Ideas need proof before they change the product</a:t>
            </a:r>
          </a:p>
        </p:txBody>
      </p:sp>
      <p:sp>
        <p:nvSpPr>
          <p:cNvPr id="3" name="">
            <a:extLst xmlns:a="http://schemas.openxmlformats.org/drawingml/2006/main">
              <a:ext uri="{FF2B5EF4-FFF2-40B4-BE49-F238E27FC236}">
                <a16:creationId xmlns:a16="http://schemas.microsoft.com/office/drawing/2014/main" id="{9F8C5992-8D5A-4BAC-B2A3-209A0200C430}"/>
              </a:ext>
            </a:extLst>
          </p:cNvPr>
          <p:cNvSpPr>
            <a:spLocks xmlns:a="http://schemas.openxmlformats.org/drawingml/2006/main" noGrp="1"/>
          </p:cNvSpPr>
          <p:nvPr/>
        </p:nvSpPr>
        <p:spPr>
          <a:xfrm xmlns:a="http://schemas.openxmlformats.org/drawingml/2006/main">
            <a:off x="590550" y="1914525"/>
            <a:ext cx="652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C6B7A"/>
                </a:solidFill>
                <a:latin typeface="Helvetica Neue"/>
                <a:ea typeface="Helvetica Neue"/>
                <a:cs typeface="Helvetica Neue"/>
              </a:defRPr>
            </a:pPr>
            <a:r>
              <a:rPr sz="1650" b="0">
                <a:solidFill>
                  <a:srgbClr val="5C6B7A"/>
                </a:solidFill>
                <a:latin typeface="Helvetica Neue"/>
                <a:ea typeface="Helvetica Neue"/>
                <a:cs typeface="Helvetica Neue"/>
              </a:rPr>
              <a:t>Review comments and generated tests become evidence-backed decisions.</a:t>
            </a:r>
          </a:p>
        </p:txBody>
      </p:sp>
      <p:sp>
        <p:nvSpPr>
          <p:cNvPr id="4" name="">
            <a:extLst xmlns:a="http://schemas.openxmlformats.org/drawingml/2006/main">
              <a:ext uri="{FF2B5EF4-FFF2-40B4-BE49-F238E27FC236}">
                <a16:creationId xmlns:a16="http://schemas.microsoft.com/office/drawing/2014/main" id="{639DD2FC-1E4F-4523-AB6D-5D7ED2C2D1B9}"/>
              </a:ext>
            </a:extLst>
          </p:cNvPr>
          <p:cNvSpPr>
            <a:spLocks xmlns:a="http://schemas.openxmlformats.org/drawingml/2006/main" noGrp="1"/>
          </p:cNvSpPr>
          <p:nvPr/>
        </p:nvSpPr>
        <p:spPr>
          <a:xfrm xmlns:a="http://schemas.openxmlformats.org/drawingml/2006/main">
            <a:off x="590550" y="2476500"/>
            <a:ext cx="5762625" cy="3400425"/>
          </a:xfrm>
          <a:prstGeom xmlns:a="http://schemas.openxmlformats.org/drawingml/2006/main" prst="roundRect">
            <a:avLst>
              <a:gd name="adj" fmla="val 8403"/>
            </a:avLst>
          </a:prstGeom>
          <a:solidFill xmlns:a="http://schemas.openxmlformats.org/drawingml/2006/main">
            <a:srgbClr val="FFF7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A8245C-7705-4A06-9EB6-81419F97AB7F}"/>
              </a:ext>
            </a:extLst>
          </p:cNvPr>
          <p:cNvSpPr>
            <a:spLocks xmlns:a="http://schemas.openxmlformats.org/drawingml/2006/main" noGrp="1"/>
          </p:cNvSpPr>
          <p:nvPr/>
        </p:nvSpPr>
        <p:spPr>
          <a:xfrm xmlns:a="http://schemas.openxmlformats.org/drawingml/2006/main">
            <a:off x="914400" y="2800350"/>
            <a:ext cx="381000" cy="381000"/>
          </a:xfrm>
          <a:prstGeom xmlns:a="http://schemas.openxmlformats.org/drawingml/2006/main" prst="ellipse">
            <a:avLst/>
          </a:prstGeom>
          <a:solidFill xmlns:a="http://schemas.openxmlformats.org/drawingml/2006/main">
            <a:srgbClr val="1769E0"/>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3E51571D-EA66-4345-9812-B0774C5A0AA4}"/>
              </a:ext>
            </a:extLst>
          </p:cNvPr>
          <p:cNvSpPr>
            <a:spLocks xmlns:a="http://schemas.openxmlformats.org/drawingml/2006/main" noGrp="1"/>
          </p:cNvSpPr>
          <p:nvPr/>
        </p:nvSpPr>
        <p:spPr>
          <a:xfrm xmlns:a="http://schemas.openxmlformats.org/drawingml/2006/main">
            <a:off x="1447800" y="28194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Confirm the problem</a:t>
            </a:r>
          </a:p>
        </p:txBody>
      </p:sp>
      <p:sp>
        <p:nvSpPr>
          <p:cNvPr id="7" name="">
            <a:extLst xmlns:a="http://schemas.openxmlformats.org/drawingml/2006/main">
              <a:ext uri="{FF2B5EF4-FFF2-40B4-BE49-F238E27FC236}">
                <a16:creationId xmlns:a16="http://schemas.microsoft.com/office/drawing/2014/main" id="{F829730D-0BB4-4E0C-A087-045BD61EC98B}"/>
              </a:ext>
            </a:extLst>
          </p:cNvPr>
          <p:cNvSpPr>
            <a:spLocks xmlns:a="http://schemas.openxmlformats.org/drawingml/2006/main" noGrp="1"/>
          </p:cNvSpPr>
          <p:nvPr/>
        </p:nvSpPr>
        <p:spPr>
          <a:xfrm xmlns:a="http://schemas.openxmlformats.org/drawingml/2006/main">
            <a:off x="1447800" y="3143250"/>
            <a:ext cx="4171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C6B7A"/>
                </a:solidFill>
                <a:latin typeface="Helvetica Neue"/>
                <a:ea typeface="Helvetica Neue"/>
                <a:cs typeface="Helvetica Neue"/>
              </a:defRPr>
            </a:pPr>
            <a:r>
              <a:rPr sz="1350" b="0">
                <a:solidFill>
                  <a:srgbClr val="5C6B7A"/>
                </a:solidFill>
                <a:latin typeface="Helvetica Neue"/>
                <a:ea typeface="Helvetica Neue"/>
                <a:cs typeface="Helvetica Neue"/>
              </a:rPr>
              <a:t>The planner checks the claimed issue against the actual code and product behavior.</a:t>
            </a:r>
          </a:p>
        </p:txBody>
      </p:sp>
      <p:sp>
        <p:nvSpPr>
          <p:cNvPr id="8" name="">
            <a:extLst xmlns:a="http://schemas.openxmlformats.org/drawingml/2006/main">
              <a:ext uri="{FF2B5EF4-FFF2-40B4-BE49-F238E27FC236}">
                <a16:creationId xmlns:a16="http://schemas.microsoft.com/office/drawing/2014/main" id="{8422C7AC-87A0-48B5-AF24-348F59A33067}"/>
              </a:ext>
            </a:extLst>
          </p:cNvPr>
          <p:cNvSpPr>
            <a:spLocks xmlns:a="http://schemas.openxmlformats.org/drawingml/2006/main" noGrp="1"/>
          </p:cNvSpPr>
          <p:nvPr/>
        </p:nvSpPr>
        <p:spPr>
          <a:xfrm xmlns:a="http://schemas.openxmlformats.org/drawingml/2006/main">
            <a:off x="914400" y="3876675"/>
            <a:ext cx="381000" cy="381000"/>
          </a:xfrm>
          <a:prstGeom xmlns:a="http://schemas.openxmlformats.org/drawingml/2006/main" prst="ellipse">
            <a:avLst/>
          </a:prstGeom>
          <a:solidFill xmlns:a="http://schemas.openxmlformats.org/drawingml/2006/main">
            <a:srgbClr val="7654D8"/>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ED05926D-7884-4A07-9E59-1E68052E8B16}"/>
              </a:ext>
            </a:extLst>
          </p:cNvPr>
          <p:cNvSpPr>
            <a:spLocks xmlns:a="http://schemas.openxmlformats.org/drawingml/2006/main" noGrp="1"/>
          </p:cNvSpPr>
          <p:nvPr/>
        </p:nvSpPr>
        <p:spPr>
          <a:xfrm xmlns:a="http://schemas.openxmlformats.org/drawingml/2006/main">
            <a:off x="1447800" y="389572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Challenge the finding</a:t>
            </a:r>
          </a:p>
        </p:txBody>
      </p:sp>
      <p:sp>
        <p:nvSpPr>
          <p:cNvPr id="10" name="">
            <a:extLst xmlns:a="http://schemas.openxmlformats.org/drawingml/2006/main">
              <a:ext uri="{FF2B5EF4-FFF2-40B4-BE49-F238E27FC236}">
                <a16:creationId xmlns:a16="http://schemas.microsoft.com/office/drawing/2014/main" id="{FABE1FAC-F06E-4696-A92E-4DC9A881B2D5}"/>
              </a:ext>
            </a:extLst>
          </p:cNvPr>
          <p:cNvSpPr>
            <a:spLocks xmlns:a="http://schemas.openxmlformats.org/drawingml/2006/main" noGrp="1"/>
          </p:cNvSpPr>
          <p:nvPr/>
        </p:nvSpPr>
        <p:spPr>
          <a:xfrm xmlns:a="http://schemas.openxmlformats.org/drawingml/2006/main">
            <a:off x="1447800" y="4219575"/>
            <a:ext cx="4171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C6B7A"/>
                </a:solidFill>
                <a:latin typeface="Helvetica Neue"/>
                <a:ea typeface="Helvetica Neue"/>
                <a:cs typeface="Helvetica Neue"/>
              </a:defRPr>
            </a:pPr>
            <a:r>
              <a:rPr sz="1350" b="0">
                <a:solidFill>
                  <a:srgbClr val="5C6B7A"/>
                </a:solidFill>
                <a:latin typeface="Helvetica Neue"/>
                <a:ea typeface="Helvetica Neue"/>
                <a:cs typeface="Helvetica Neue"/>
              </a:rPr>
              <a:t>A verifier tries to disprove a significant claim using the source, specification and tests.</a:t>
            </a:r>
          </a:p>
        </p:txBody>
      </p:sp>
      <p:sp>
        <p:nvSpPr>
          <p:cNvPr id="11" name="">
            <a:extLst xmlns:a="http://schemas.openxmlformats.org/drawingml/2006/main">
              <a:ext uri="{FF2B5EF4-FFF2-40B4-BE49-F238E27FC236}">
                <a16:creationId xmlns:a16="http://schemas.microsoft.com/office/drawing/2014/main" id="{21F17D48-D110-4256-B44C-F2FE8CF8B1C4}"/>
              </a:ext>
            </a:extLst>
          </p:cNvPr>
          <p:cNvSpPr>
            <a:spLocks xmlns:a="http://schemas.openxmlformats.org/drawingml/2006/main" noGrp="1"/>
          </p:cNvSpPr>
          <p:nvPr/>
        </p:nvSpPr>
        <p:spPr>
          <a:xfrm xmlns:a="http://schemas.openxmlformats.org/drawingml/2006/main">
            <a:off x="914400" y="4953000"/>
            <a:ext cx="381000" cy="381000"/>
          </a:xfrm>
          <a:prstGeom xmlns:a="http://schemas.openxmlformats.org/drawingml/2006/main" prst="ellipse">
            <a:avLst/>
          </a:prstGeom>
          <a:solidFill xmlns:a="http://schemas.openxmlformats.org/drawingml/2006/main">
            <a:srgbClr val="169C63"/>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E9690F9B-7815-44C9-AADD-C5B5C9D68242}"/>
              </a:ext>
            </a:extLst>
          </p:cNvPr>
          <p:cNvSpPr>
            <a:spLocks xmlns:a="http://schemas.openxmlformats.org/drawingml/2006/main" noGrp="1"/>
          </p:cNvSpPr>
          <p:nvPr/>
        </p:nvSpPr>
        <p:spPr>
          <a:xfrm xmlns:a="http://schemas.openxmlformats.org/drawingml/2006/main">
            <a:off x="1447800" y="49720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Decide deliberately</a:t>
            </a:r>
          </a:p>
        </p:txBody>
      </p:sp>
      <p:sp>
        <p:nvSpPr>
          <p:cNvPr id="13" name="">
            <a:extLst xmlns:a="http://schemas.openxmlformats.org/drawingml/2006/main">
              <a:ext uri="{FF2B5EF4-FFF2-40B4-BE49-F238E27FC236}">
                <a16:creationId xmlns:a16="http://schemas.microsoft.com/office/drawing/2014/main" id="{1CEEA6BE-7E1E-4498-AA8E-E4B5A8957170}"/>
              </a:ext>
            </a:extLst>
          </p:cNvPr>
          <p:cNvSpPr>
            <a:spLocks xmlns:a="http://schemas.openxmlformats.org/drawingml/2006/main" noGrp="1"/>
          </p:cNvSpPr>
          <p:nvPr/>
        </p:nvSpPr>
        <p:spPr>
          <a:xfrm xmlns:a="http://schemas.openxmlformats.org/drawingml/2006/main">
            <a:off x="1447800" y="5295900"/>
            <a:ext cx="4171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C6B7A"/>
                </a:solidFill>
                <a:latin typeface="Helvetica Neue"/>
                <a:ea typeface="Helvetica Neue"/>
                <a:cs typeface="Helvetica Neue"/>
              </a:defRPr>
            </a:pPr>
            <a:r>
              <a:rPr sz="1350" b="0">
                <a:solidFill>
                  <a:srgbClr val="5C6B7A"/>
                </a:solidFill>
                <a:latin typeface="Helvetica Neue"/>
                <a:ea typeface="Helvetica Neue"/>
                <a:cs typeface="Helvetica Neue"/>
              </a:rPr>
              <a:t>Fix confirmed work, bank useful ideas for later, and reject unsupported changes.</a:t>
            </a:r>
          </a:p>
        </p:txBody>
      </p:sp>
      <p:sp>
        <p:nvSpPr>
          <p:cNvPr id="14" name="">
            <a:extLst xmlns:a="http://schemas.openxmlformats.org/drawingml/2006/main">
              <a:ext uri="{FF2B5EF4-FFF2-40B4-BE49-F238E27FC236}">
                <a16:creationId xmlns:a16="http://schemas.microsoft.com/office/drawing/2014/main" id="{7867AA20-5D6C-4D7F-9C23-E516A98301A1}"/>
              </a:ext>
            </a:extLst>
          </p:cNvPr>
          <p:cNvSpPr>
            <a:spLocks xmlns:a="http://schemas.openxmlformats.org/drawingml/2006/main" noGrp="1"/>
          </p:cNvSpPr>
          <p:nvPr/>
        </p:nvSpPr>
        <p:spPr>
          <a:xfrm xmlns:a="http://schemas.openxmlformats.org/drawingml/2006/main">
            <a:off x="6838950" y="2219325"/>
            <a:ext cx="4572000" cy="3943350"/>
          </a:xfrm>
          <a:prstGeom xmlns:a="http://schemas.openxmlformats.org/drawingml/2006/main" prst="roundRect">
            <a:avLst>
              <a:gd name="adj" fmla="val 8696"/>
            </a:avLst>
          </a:prstGeom>
          <a:solidFill xmlns:a="http://schemas.openxmlformats.org/drawingml/2006/main">
            <a:srgbClr val="EAF8F1"/>
          </a:solidFill>
          <a:ln xmlns:a="http://schemas.openxmlformats.org/drawingml/2006/main" w="0">
            <a:no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6f7a00e6bc974e9b"/>
          <a:stretch xmlns:a="http://schemas.openxmlformats.org/drawingml/2006/main"/>
        </p:blipFill>
        <p:spPr>
          <a:xfrm xmlns:a="http://schemas.openxmlformats.org/drawingml/2006/main">
            <a:off x="7419975" y="2400300"/>
            <a:ext cx="3429000" cy="34290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2B6D11E-64CB-47C4-92EB-799E857CAE34}"/>
              </a:ext>
            </a:extLst>
          </p:cNvPr>
          <p:cNvSpPr>
            <a:spLocks xmlns:a="http://schemas.openxmlformats.org/drawingml/2006/main" noGrp="1"/>
          </p:cNvSpPr>
          <p:nvPr/>
        </p:nvSpPr>
        <p:spPr>
          <a:xfrm xmlns:a="http://schemas.openxmlformats.org/drawingml/2006/main">
            <a:off x="7172325" y="5715000"/>
            <a:ext cx="952500" cy="323850"/>
          </a:xfrm>
          <a:prstGeom xmlns:a="http://schemas.openxmlformats.org/drawingml/2006/main" prst="roundRect">
            <a:avLst>
              <a:gd name="adj" fmla="val 50000"/>
            </a:avLst>
          </a:prstGeom>
          <a:solidFill xmlns:a="http://schemas.openxmlformats.org/drawingml/2006/main">
            <a:srgbClr val="169C63"/>
          </a:solidFill>
          <a:ln xmlns:a="http://schemas.openxmlformats.org/drawingml/2006/main" w="0">
            <a:noFill/>
          </a:ln>
        </p:spPr>
        <p:txBody>
          <a:bodyPr xmlns:a="http://schemas.openxmlformats.org/drawingml/2006/main" lIns="95250" tIns="0" rIns="95250" bIns="0" anchor="ctr">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FIX NOW</a:t>
            </a:r>
          </a:p>
        </p:txBody>
      </p:sp>
      <p:sp>
        <p:nvSpPr>
          <p:cNvPr id="17" name="">
            <a:extLst xmlns:a="http://schemas.openxmlformats.org/drawingml/2006/main">
              <a:ext uri="{FF2B5EF4-FFF2-40B4-BE49-F238E27FC236}">
                <a16:creationId xmlns:a16="http://schemas.microsoft.com/office/drawing/2014/main" id="{A8484568-9565-407C-97E3-499BB81A7548}"/>
              </a:ext>
            </a:extLst>
          </p:cNvPr>
          <p:cNvSpPr>
            <a:spLocks xmlns:a="http://schemas.openxmlformats.org/drawingml/2006/main" noGrp="1"/>
          </p:cNvSpPr>
          <p:nvPr/>
        </p:nvSpPr>
        <p:spPr>
          <a:xfrm xmlns:a="http://schemas.openxmlformats.org/drawingml/2006/main">
            <a:off x="8248650" y="5715000"/>
            <a:ext cx="819150" cy="3238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txBody>
          <a:bodyPr xmlns:a="http://schemas.openxmlformats.org/drawingml/2006/main" lIns="95250" tIns="0" rIns="95250" bIns="0" anchor="ctr">
            <a:noAutofit/>
          </a:bodyPr>
          <a:lstStyle xmlns:a="http://schemas.openxmlformats.org/drawingml/2006/main"/>
          <a:p xmlns:a="http://schemas.openxmlformats.org/drawingml/2006/main">
            <a:pPr algn="ctr">
              <a:defRPr sz="1200" b="1">
                <a:solidFill>
                  <a:srgbClr val="102A43"/>
                </a:solidFill>
                <a:latin typeface="Helvetica Neue"/>
                <a:ea typeface="Helvetica Neue"/>
                <a:cs typeface="Helvetica Neue"/>
              </a:defRPr>
            </a:pPr>
            <a:r>
              <a:rPr sz="1200" b="1">
                <a:solidFill>
                  <a:srgbClr val="102A43"/>
                </a:solidFill>
                <a:latin typeface="Helvetica Neue"/>
                <a:ea typeface="Helvetica Neue"/>
                <a:cs typeface="Helvetica Neue"/>
              </a:rPr>
              <a:t>BANK</a:t>
            </a:r>
          </a:p>
        </p:txBody>
      </p:sp>
      <p:sp>
        <p:nvSpPr>
          <p:cNvPr id="18" name="">
            <a:extLst xmlns:a="http://schemas.openxmlformats.org/drawingml/2006/main">
              <a:ext uri="{FF2B5EF4-FFF2-40B4-BE49-F238E27FC236}">
                <a16:creationId xmlns:a16="http://schemas.microsoft.com/office/drawing/2014/main" id="{76E1787E-32D8-4C54-88EE-332C0C7A40A0}"/>
              </a:ext>
            </a:extLst>
          </p:cNvPr>
          <p:cNvSpPr>
            <a:spLocks xmlns:a="http://schemas.openxmlformats.org/drawingml/2006/main" noGrp="1"/>
          </p:cNvSpPr>
          <p:nvPr/>
        </p:nvSpPr>
        <p:spPr>
          <a:xfrm xmlns:a="http://schemas.openxmlformats.org/drawingml/2006/main">
            <a:off x="9191625" y="5715000"/>
            <a:ext cx="942975" cy="323850"/>
          </a:xfrm>
          <a:prstGeom xmlns:a="http://schemas.openxmlformats.org/drawingml/2006/main" prst="roundRect">
            <a:avLst>
              <a:gd name="adj" fmla="val 50000"/>
            </a:avLst>
          </a:prstGeom>
          <a:solidFill xmlns:a="http://schemas.openxmlformats.org/drawingml/2006/main">
            <a:srgbClr val="102A43"/>
          </a:solidFill>
          <a:ln xmlns:a="http://schemas.openxmlformats.org/drawingml/2006/main" w="0">
            <a:noFill/>
          </a:ln>
        </p:spPr>
        <p:txBody>
          <a:bodyPr xmlns:a="http://schemas.openxmlformats.org/drawingml/2006/main" lIns="95250" tIns="0" rIns="95250" bIns="0" anchor="ctr">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REJECT</a:t>
            </a:r>
          </a:p>
        </p:txBody>
      </p:sp>
      <p:sp>
        <p:nvSpPr>
          <p:cNvPr id="19" name="">
            <a:extLst xmlns:a="http://schemas.openxmlformats.org/drawingml/2006/main">
              <a:ext uri="{FF2B5EF4-FFF2-40B4-BE49-F238E27FC236}">
                <a16:creationId xmlns:a16="http://schemas.microsoft.com/office/drawing/2014/main" id="{0595AE3A-3251-4ADB-B44E-0A49D5BAB039}"/>
              </a:ext>
            </a:extLst>
          </p:cNvPr>
          <p:cNvSpPr>
            <a:spLocks xmlns:a="http://schemas.openxmlformats.org/drawingml/2006/main" noGrp="1"/>
          </p:cNvSpPr>
          <p:nvPr/>
        </p:nvSpPr>
        <p:spPr>
          <a:xfrm xmlns:a="http://schemas.openxmlformats.org/drawingml/2006/main">
            <a:off x="11144250" y="63817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C6B7A"/>
                </a:solidFill>
                <a:latin typeface="Helvetica Neue"/>
                <a:ea typeface="Helvetica Neue"/>
                <a:cs typeface="Helvetica Neue"/>
              </a:defRPr>
            </a:pPr>
            <a:r>
              <a:rPr sz="1125" b="0">
                <a:solidFill>
                  <a:srgbClr val="5C6B7A"/>
                </a:solidFill>
                <a:latin typeface="Helvetica Neue"/>
                <a:ea typeface="Helvetica Neue"/>
                <a:cs typeface="Helvetica Neue"/>
              </a:rPr>
              <a:t>03</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EEED7D7-9DBD-49AB-8BF7-0D211233D73A}"/>
              </a:ext>
            </a:extLst>
          </p:cNvPr>
          <p:cNvSpPr>
            <a:spLocks xmlns:a="http://schemas.openxmlformats.org/drawingml/2006/main" noGrp="1"/>
          </p:cNvSpPr>
          <p:nvPr/>
        </p:nvSpPr>
        <p:spPr>
          <a:xfrm xmlns:a="http://schemas.openxmlformats.org/drawingml/2006/main">
            <a:off x="0" y="0"/>
            <a:ext cx="12192000" cy="2152650"/>
          </a:xfrm>
          <a:prstGeom xmlns:a="http://schemas.openxmlformats.org/drawingml/2006/main" prst="rect">
            <a:avLst/>
          </a:prstGeom>
          <a:solidFill xmlns:a="http://schemas.openxmlformats.org/drawingml/2006/main">
            <a:srgbClr val="EDF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81ADD6-DCF2-4080-A2FE-E373F4154A8B}"/>
              </a:ext>
            </a:extLst>
          </p:cNvPr>
          <p:cNvSpPr>
            <a:spLocks xmlns:a="http://schemas.openxmlformats.org/drawingml/2006/main" noGrp="1"/>
          </p:cNvSpPr>
          <p:nvPr/>
        </p:nvSpPr>
        <p:spPr>
          <a:xfrm xmlns:a="http://schemas.openxmlformats.org/drawingml/2006/main">
            <a:off x="590550" y="495300"/>
            <a:ext cx="2819400" cy="32385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txBody>
          <a:bodyPr xmlns:a="http://schemas.openxmlformats.org/drawingml/2006/main" lIns="95250" tIns="0" rIns="95250" bIns="0" anchor="ctr">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WHERE THE DESIGN COMES FROM</a:t>
            </a:r>
          </a:p>
        </p:txBody>
      </p:sp>
      <p:sp>
        <p:nvSpPr>
          <p:cNvPr id="3" name="">
            <a:extLst xmlns:a="http://schemas.openxmlformats.org/drawingml/2006/main">
              <a:ext uri="{FF2B5EF4-FFF2-40B4-BE49-F238E27FC236}">
                <a16:creationId xmlns:a16="http://schemas.microsoft.com/office/drawing/2014/main" id="{2D6D4D7F-1C69-459A-95F5-BD2DD6AEDA24}"/>
              </a:ext>
            </a:extLst>
          </p:cNvPr>
          <p:cNvSpPr>
            <a:spLocks xmlns:a="http://schemas.openxmlformats.org/drawingml/2006/main" noGrp="1"/>
          </p:cNvSpPr>
          <p:nvPr/>
        </p:nvSpPr>
        <p:spPr>
          <a:xfrm xmlns:a="http://schemas.openxmlformats.org/drawingml/2006/main">
            <a:off x="590550" y="10287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02A43"/>
                </a:solidFill>
                <a:latin typeface="Helvetica Neue"/>
                <a:ea typeface="Helvetica Neue"/>
                <a:cs typeface="Helvetica Neue"/>
              </a:defRPr>
            </a:pPr>
            <a:r>
              <a:rPr sz="3000" b="1">
                <a:solidFill>
                  <a:srgbClr val="102A43"/>
                </a:solidFill>
                <a:latin typeface="Helvetica Neue"/>
                <a:ea typeface="Helvetica Neue"/>
                <a:cs typeface="Helvetica Neue"/>
              </a:rPr>
              <a:t>A research pattern, adapted for real delivery</a:t>
            </a:r>
          </a:p>
        </p:txBody>
      </p:sp>
      <p:sp>
        <p:nvSpPr>
          <p:cNvPr id="4" name="">
            <a:extLst xmlns:a="http://schemas.openxmlformats.org/drawingml/2006/main">
              <a:ext uri="{FF2B5EF4-FFF2-40B4-BE49-F238E27FC236}">
                <a16:creationId xmlns:a16="http://schemas.microsoft.com/office/drawing/2014/main" id="{FFD52BAF-17F5-4FFC-92C5-2CDE3F0A93D4}"/>
              </a:ext>
            </a:extLst>
          </p:cNvPr>
          <p:cNvSpPr>
            <a:spLocks xmlns:a="http://schemas.openxmlformats.org/drawingml/2006/main" noGrp="1"/>
          </p:cNvSpPr>
          <p:nvPr/>
        </p:nvSpPr>
        <p:spPr>
          <a:xfrm xmlns:a="http://schemas.openxmlformats.org/drawingml/2006/main">
            <a:off x="590550" y="1866900"/>
            <a:ext cx="942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B7A"/>
                </a:solidFill>
                <a:latin typeface="Helvetica Neue"/>
                <a:ea typeface="Helvetica Neue"/>
                <a:cs typeface="Helvetica Neue"/>
              </a:defRPr>
            </a:pPr>
            <a:r>
              <a:rPr sz="1500" b="0">
                <a:solidFill>
                  <a:srgbClr val="5C6B7A"/>
                </a:solidFill>
                <a:latin typeface="Helvetica Neue"/>
                <a:ea typeface="Helvetica Neue"/>
                <a:cs typeface="Helvetica Neue"/>
              </a:rPr>
              <a:t>Inspired by Anthropic’s multi-agent research system and tailored to the Zora environment.</a:t>
            </a:r>
          </a:p>
        </p:txBody>
      </p:sp>
      <p:sp>
        <p:nvSpPr>
          <p:cNvPr id="5" name="">
            <a:extLst xmlns:a="http://schemas.openxmlformats.org/drawingml/2006/main">
              <a:ext uri="{FF2B5EF4-FFF2-40B4-BE49-F238E27FC236}">
                <a16:creationId xmlns:a16="http://schemas.microsoft.com/office/drawing/2014/main" id="{0800F6D4-470F-493E-B675-2DE67575D8A4}"/>
              </a:ext>
            </a:extLst>
          </p:cNvPr>
          <p:cNvSpPr>
            <a:spLocks xmlns:a="http://schemas.openxmlformats.org/drawingml/2006/main" noGrp="1"/>
          </p:cNvSpPr>
          <p:nvPr/>
        </p:nvSpPr>
        <p:spPr>
          <a:xfrm xmlns:a="http://schemas.openxmlformats.org/drawingml/2006/main">
            <a:off x="590550" y="2552700"/>
            <a:ext cx="3371850" cy="2324100"/>
          </a:xfrm>
          <a:prstGeom xmlns:a="http://schemas.openxmlformats.org/drawingml/2006/main" prst="roundRect">
            <a:avLst>
              <a:gd name="adj" fmla="val 10656"/>
            </a:avLst>
          </a:prstGeom>
          <a:solidFill xmlns:a="http://schemas.openxmlformats.org/drawingml/2006/main">
            <a:srgbClr val="EDF6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8030456-E02C-4274-85B2-18CAE29F6546}"/>
              </a:ext>
            </a:extLst>
          </p:cNvPr>
          <p:cNvSpPr>
            <a:spLocks xmlns:a="http://schemas.openxmlformats.org/drawingml/2006/main" noGrp="1"/>
          </p:cNvSpPr>
          <p:nvPr/>
        </p:nvSpPr>
        <p:spPr>
          <a:xfrm xmlns:a="http://schemas.openxmlformats.org/drawingml/2006/main">
            <a:off x="4410075" y="2552700"/>
            <a:ext cx="3371850" cy="2324100"/>
          </a:xfrm>
          <a:prstGeom xmlns:a="http://schemas.openxmlformats.org/drawingml/2006/main" prst="roundRect">
            <a:avLst>
              <a:gd name="adj" fmla="val 10656"/>
            </a:avLst>
          </a:prstGeom>
          <a:solidFill xmlns:a="http://schemas.openxmlformats.org/drawingml/2006/main">
            <a:srgbClr val="F2EE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1B78EE-9055-4F3D-8629-31D1EDF7924C}"/>
              </a:ext>
            </a:extLst>
          </p:cNvPr>
          <p:cNvSpPr>
            <a:spLocks xmlns:a="http://schemas.openxmlformats.org/drawingml/2006/main" noGrp="1"/>
          </p:cNvSpPr>
          <p:nvPr/>
        </p:nvSpPr>
        <p:spPr>
          <a:xfrm xmlns:a="http://schemas.openxmlformats.org/drawingml/2006/main">
            <a:off x="8229600" y="2552700"/>
            <a:ext cx="3371850" cy="2324100"/>
          </a:xfrm>
          <a:prstGeom xmlns:a="http://schemas.openxmlformats.org/drawingml/2006/main" prst="roundRect">
            <a:avLst>
              <a:gd name="adj" fmla="val 10656"/>
            </a:avLst>
          </a:prstGeom>
          <a:solidFill xmlns:a="http://schemas.openxmlformats.org/drawingml/2006/main">
            <a:srgbClr val="EAF8F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83FB7DE-4777-4B9F-AD2C-E98E210E6F6E}"/>
              </a:ext>
            </a:extLst>
          </p:cNvPr>
          <p:cNvSpPr>
            <a:spLocks xmlns:a="http://schemas.openxmlformats.org/drawingml/2006/main" noGrp="1"/>
          </p:cNvSpPr>
          <p:nvPr/>
        </p:nvSpPr>
        <p:spPr>
          <a:xfrm xmlns:a="http://schemas.openxmlformats.org/drawingml/2006/main">
            <a:off x="866775" y="2819400"/>
            <a:ext cx="381000" cy="381000"/>
          </a:xfrm>
          <a:prstGeom xmlns:a="http://schemas.openxmlformats.org/drawingml/2006/main" prst="ellipse">
            <a:avLst/>
          </a:prstGeom>
          <a:solidFill xmlns:a="http://schemas.openxmlformats.org/drawingml/2006/main">
            <a:srgbClr val="F28C28"/>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590EB6BF-A993-4820-90E8-DEA4011C134C}"/>
              </a:ext>
            </a:extLst>
          </p:cNvPr>
          <p:cNvSpPr>
            <a:spLocks xmlns:a="http://schemas.openxmlformats.org/drawingml/2006/main" noGrp="1"/>
          </p:cNvSpPr>
          <p:nvPr/>
        </p:nvSpPr>
        <p:spPr>
          <a:xfrm xmlns:a="http://schemas.openxmlformats.org/drawingml/2006/main">
            <a:off x="4686300" y="2819400"/>
            <a:ext cx="381000" cy="381000"/>
          </a:xfrm>
          <a:prstGeom xmlns:a="http://schemas.openxmlformats.org/drawingml/2006/main" prst="ellipse">
            <a:avLst/>
          </a:prstGeom>
          <a:solidFill xmlns:a="http://schemas.openxmlformats.org/drawingml/2006/main">
            <a:srgbClr val="7654D8"/>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F30FCC9A-5002-4B3E-A992-934F2CC0AD8F}"/>
              </a:ext>
            </a:extLst>
          </p:cNvPr>
          <p:cNvSpPr>
            <a:spLocks xmlns:a="http://schemas.openxmlformats.org/drawingml/2006/main" noGrp="1"/>
          </p:cNvSpPr>
          <p:nvPr/>
        </p:nvSpPr>
        <p:spPr>
          <a:xfrm xmlns:a="http://schemas.openxmlformats.org/drawingml/2006/main">
            <a:off x="8505825" y="2819400"/>
            <a:ext cx="381000" cy="381000"/>
          </a:xfrm>
          <a:prstGeom xmlns:a="http://schemas.openxmlformats.org/drawingml/2006/main" prst="ellipse">
            <a:avLst/>
          </a:prstGeom>
          <a:solidFill xmlns:a="http://schemas.openxmlformats.org/drawingml/2006/main">
            <a:srgbClr val="169C63"/>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28683693-5036-40EF-A90E-5CB528E7A5C2}"/>
              </a:ext>
            </a:extLst>
          </p:cNvPr>
          <p:cNvSpPr>
            <a:spLocks xmlns:a="http://schemas.openxmlformats.org/drawingml/2006/main" noGrp="1"/>
          </p:cNvSpPr>
          <p:nvPr/>
        </p:nvSpPr>
        <p:spPr>
          <a:xfrm xmlns:a="http://schemas.openxmlformats.org/drawingml/2006/main">
            <a:off x="866775" y="3362325"/>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A43"/>
                </a:solidFill>
                <a:latin typeface="Helvetica Neue"/>
                <a:ea typeface="Helvetica Neue"/>
                <a:cs typeface="Helvetica Neue"/>
              </a:defRPr>
            </a:pPr>
            <a:r>
              <a:rPr sz="1875" b="1">
                <a:solidFill>
                  <a:srgbClr val="102A43"/>
                </a:solidFill>
                <a:latin typeface="Helvetica Neue"/>
                <a:ea typeface="Helvetica Neue"/>
                <a:cs typeface="Helvetica Neue"/>
              </a:rPr>
              <a:t>Research pattern</a:t>
            </a:r>
          </a:p>
        </p:txBody>
      </p:sp>
      <p:sp>
        <p:nvSpPr>
          <p:cNvPr id="12" name="">
            <a:extLst xmlns:a="http://schemas.openxmlformats.org/drawingml/2006/main">
              <a:ext uri="{FF2B5EF4-FFF2-40B4-BE49-F238E27FC236}">
                <a16:creationId xmlns:a16="http://schemas.microsoft.com/office/drawing/2014/main" id="{746AE2CB-0123-4034-B213-8D2BFE63B566}"/>
              </a:ext>
            </a:extLst>
          </p:cNvPr>
          <p:cNvSpPr>
            <a:spLocks xmlns:a="http://schemas.openxmlformats.org/drawingml/2006/main" noGrp="1"/>
          </p:cNvSpPr>
          <p:nvPr/>
        </p:nvSpPr>
        <p:spPr>
          <a:xfrm xmlns:a="http://schemas.openxmlformats.org/drawingml/2006/main">
            <a:off x="866775" y="3762375"/>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C6B7A"/>
                </a:solidFill>
                <a:latin typeface="Helvetica Neue"/>
                <a:ea typeface="Helvetica Neue"/>
                <a:cs typeface="Helvetica Neue"/>
              </a:defRPr>
            </a:pPr>
            <a:r>
              <a:rPr sz="1425" b="0">
                <a:solidFill>
                  <a:srgbClr val="5C6B7A"/>
                </a:solidFill>
                <a:latin typeface="Helvetica Neue"/>
                <a:ea typeface="Helvetica Neue"/>
                <a:cs typeface="Helvetica Neue"/>
              </a:rPr>
              <a:t>A lead delegates bounded work to specialists with separate contexts.</a:t>
            </a:r>
          </a:p>
        </p:txBody>
      </p:sp>
      <p:sp>
        <p:nvSpPr>
          <p:cNvPr id="13" name="">
            <a:extLst xmlns:a="http://schemas.openxmlformats.org/drawingml/2006/main">
              <a:ext uri="{FF2B5EF4-FFF2-40B4-BE49-F238E27FC236}">
                <a16:creationId xmlns:a16="http://schemas.microsoft.com/office/drawing/2014/main" id="{F4E2C8B6-09B4-4895-923C-163EF291EF02}"/>
              </a:ext>
            </a:extLst>
          </p:cNvPr>
          <p:cNvSpPr>
            <a:spLocks xmlns:a="http://schemas.openxmlformats.org/drawingml/2006/main" noGrp="1"/>
          </p:cNvSpPr>
          <p:nvPr/>
        </p:nvSpPr>
        <p:spPr>
          <a:xfrm xmlns:a="http://schemas.openxmlformats.org/drawingml/2006/main">
            <a:off x="4686300" y="3362325"/>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A43"/>
                </a:solidFill>
                <a:latin typeface="Helvetica Neue"/>
                <a:ea typeface="Helvetica Neue"/>
                <a:cs typeface="Helvetica Neue"/>
              </a:defRPr>
            </a:pPr>
            <a:r>
              <a:rPr sz="1875" b="1">
                <a:solidFill>
                  <a:srgbClr val="102A43"/>
                </a:solidFill>
                <a:latin typeface="Helvetica Neue"/>
                <a:ea typeface="Helvetica Neue"/>
                <a:cs typeface="Helvetica Neue"/>
              </a:rPr>
              <a:t>Zora adaptation</a:t>
            </a:r>
          </a:p>
        </p:txBody>
      </p:sp>
      <p:sp>
        <p:nvSpPr>
          <p:cNvPr id="14" name="">
            <a:extLst xmlns:a="http://schemas.openxmlformats.org/drawingml/2006/main">
              <a:ext uri="{FF2B5EF4-FFF2-40B4-BE49-F238E27FC236}">
                <a16:creationId xmlns:a16="http://schemas.microsoft.com/office/drawing/2014/main" id="{710E29C1-FB34-4FA7-BCB0-52DE85731F24}"/>
              </a:ext>
            </a:extLst>
          </p:cNvPr>
          <p:cNvSpPr>
            <a:spLocks xmlns:a="http://schemas.openxmlformats.org/drawingml/2006/main" noGrp="1"/>
          </p:cNvSpPr>
          <p:nvPr/>
        </p:nvSpPr>
        <p:spPr>
          <a:xfrm xmlns:a="http://schemas.openxmlformats.org/drawingml/2006/main">
            <a:off x="4686300" y="3762375"/>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C6B7A"/>
                </a:solidFill>
                <a:latin typeface="Helvetica Neue"/>
                <a:ea typeface="Helvetica Neue"/>
                <a:cs typeface="Helvetica Neue"/>
              </a:defRPr>
            </a:pPr>
            <a:r>
              <a:rPr sz="1425" b="0">
                <a:solidFill>
                  <a:srgbClr val="5C6B7A"/>
                </a:solidFill>
                <a:latin typeface="Helvetica Neue"/>
                <a:ea typeface="Helvetica Neue"/>
                <a:cs typeface="Helvetica Neue"/>
              </a:rPr>
              <a:t>One writer uses the shared checkout while review and validation remain independent.</a:t>
            </a:r>
          </a:p>
        </p:txBody>
      </p:sp>
      <p:sp>
        <p:nvSpPr>
          <p:cNvPr id="15" name="">
            <a:extLst xmlns:a="http://schemas.openxmlformats.org/drawingml/2006/main">
              <a:ext uri="{FF2B5EF4-FFF2-40B4-BE49-F238E27FC236}">
                <a16:creationId xmlns:a16="http://schemas.microsoft.com/office/drawing/2014/main" id="{8445574D-447E-4D5D-97F3-A8AA43717FDA}"/>
              </a:ext>
            </a:extLst>
          </p:cNvPr>
          <p:cNvSpPr>
            <a:spLocks xmlns:a="http://schemas.openxmlformats.org/drawingml/2006/main" noGrp="1"/>
          </p:cNvSpPr>
          <p:nvPr/>
        </p:nvSpPr>
        <p:spPr>
          <a:xfrm xmlns:a="http://schemas.openxmlformats.org/drawingml/2006/main">
            <a:off x="8505825" y="3362325"/>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A43"/>
                </a:solidFill>
                <a:latin typeface="Helvetica Neue"/>
                <a:ea typeface="Helvetica Neue"/>
                <a:cs typeface="Helvetica Neue"/>
              </a:defRPr>
            </a:pPr>
            <a:r>
              <a:rPr sz="1875" b="1">
                <a:solidFill>
                  <a:srgbClr val="102A43"/>
                </a:solidFill>
                <a:latin typeface="Helvetica Neue"/>
                <a:ea typeface="Helvetica Neue"/>
                <a:cs typeface="Helvetica Neue"/>
              </a:rPr>
              <a:t>Stakeholder outcome</a:t>
            </a:r>
          </a:p>
        </p:txBody>
      </p:sp>
      <p:sp>
        <p:nvSpPr>
          <p:cNvPr id="16" name="">
            <a:extLst xmlns:a="http://schemas.openxmlformats.org/drawingml/2006/main">
              <a:ext uri="{FF2B5EF4-FFF2-40B4-BE49-F238E27FC236}">
                <a16:creationId xmlns:a16="http://schemas.microsoft.com/office/drawing/2014/main" id="{125A91FB-8A92-401D-9F95-6A75788D773B}"/>
              </a:ext>
            </a:extLst>
          </p:cNvPr>
          <p:cNvSpPr>
            <a:spLocks xmlns:a="http://schemas.openxmlformats.org/drawingml/2006/main" noGrp="1"/>
          </p:cNvSpPr>
          <p:nvPr/>
        </p:nvSpPr>
        <p:spPr>
          <a:xfrm xmlns:a="http://schemas.openxmlformats.org/drawingml/2006/main">
            <a:off x="8505825" y="3762375"/>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C6B7A"/>
                </a:solidFill>
                <a:latin typeface="Helvetica Neue"/>
                <a:ea typeface="Helvetica Neue"/>
                <a:cs typeface="Helvetica Neue"/>
              </a:defRPr>
            </a:pPr>
            <a:r>
              <a:rPr sz="1425" b="0">
                <a:solidFill>
                  <a:srgbClr val="5C6B7A"/>
                </a:solidFill>
                <a:latin typeface="Helvetica Neue"/>
                <a:ea typeface="Helvetica Neue"/>
                <a:cs typeface="Helvetica Neue"/>
              </a:rPr>
              <a:t>The work stays visible, evidence-led and under human control through the PR.</a:t>
            </a:r>
          </a:p>
        </p:txBody>
      </p:sp>
      <p:sp>
        <p:nvSpPr>
          <p:cNvPr id="17" name="">
            <a:extLst xmlns:a="http://schemas.openxmlformats.org/drawingml/2006/main">
              <a:ext uri="{FF2B5EF4-FFF2-40B4-BE49-F238E27FC236}">
                <a16:creationId xmlns:a16="http://schemas.microsoft.com/office/drawing/2014/main" id="{AD4DE664-BDE3-4E94-9F14-4FE4518F2184}"/>
              </a:ext>
            </a:extLst>
          </p:cNvPr>
          <p:cNvSpPr>
            <a:spLocks xmlns:a="http://schemas.openxmlformats.org/drawingml/2006/main" noGrp="1"/>
          </p:cNvSpPr>
          <p:nvPr/>
        </p:nvSpPr>
        <p:spPr>
          <a:xfrm xmlns:a="http://schemas.openxmlformats.org/drawingml/2006/main">
            <a:off x="590550" y="5314950"/>
            <a:ext cx="11010900" cy="838200"/>
          </a:xfrm>
          <a:prstGeom xmlns:a="http://schemas.openxmlformats.org/drawingml/2006/main" prst="roundRect">
            <a:avLst>
              <a:gd name="adj" fmla="val 25000"/>
            </a:avLst>
          </a:prstGeom>
          <a:solidFill xmlns:a="http://schemas.openxmlformats.org/drawingml/2006/main">
            <a:srgbClr val="FFF7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D39E800-6906-4E39-A48D-B16E2937C86F}"/>
              </a:ext>
            </a:extLst>
          </p:cNvPr>
          <p:cNvSpPr>
            <a:spLocks xmlns:a="http://schemas.openxmlformats.org/drawingml/2006/main" noGrp="1"/>
          </p:cNvSpPr>
          <p:nvPr/>
        </p:nvSpPr>
        <p:spPr>
          <a:xfrm xmlns:a="http://schemas.openxmlformats.org/drawingml/2006/main">
            <a:off x="876300" y="5514975"/>
            <a:ext cx="8191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Scope, evidence and ownership stay visible at every handoff.</a:t>
            </a:r>
          </a:p>
        </p:txBody>
      </p:sp>
      <p:sp>
        <p:nvSpPr>
          <p:cNvPr id="19" name="">
            <a:extLst xmlns:a="http://schemas.openxmlformats.org/drawingml/2006/main">
              <a:ext uri="{FF2B5EF4-FFF2-40B4-BE49-F238E27FC236}">
                <a16:creationId xmlns:a16="http://schemas.microsoft.com/office/drawing/2014/main" id="{CD924453-FD11-4C40-A04D-690712521CAF}"/>
              </a:ext>
            </a:extLst>
          </p:cNvPr>
          <p:cNvSpPr>
            <a:spLocks xmlns:a="http://schemas.openxmlformats.org/drawingml/2006/main" noGrp="1"/>
          </p:cNvSpPr>
          <p:nvPr/>
        </p:nvSpPr>
        <p:spPr>
          <a:xfrm xmlns:a="http://schemas.openxmlformats.org/drawingml/2006/main">
            <a:off x="876300" y="5886450"/>
            <a:ext cx="819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C6B7A"/>
                </a:solidFill>
                <a:latin typeface="Helvetica Neue"/>
                <a:ea typeface="Helvetica Neue"/>
                <a:cs typeface="Helvetica Neue"/>
              </a:defRPr>
            </a:pPr>
            <a:r>
              <a:rPr sz="1125" b="0">
                <a:solidFill>
                  <a:srgbClr val="5C6B7A"/>
                </a:solidFill>
                <a:latin typeface="Helvetica Neue"/>
                <a:ea typeface="Helvetica Neue"/>
                <a:cs typeface="Helvetica Neue"/>
              </a:rPr>
              <a:t>Anthropic research pattern  ·  Claude Code runtime  ·  Custom local skills</a:t>
            </a:r>
          </a:p>
        </p:txBody>
      </p:sp>
      <p:sp>
        <p:nvSpPr>
          <p:cNvPr id="20" name="">
            <a:extLst xmlns:a="http://schemas.openxmlformats.org/drawingml/2006/main">
              <a:ext uri="{FF2B5EF4-FFF2-40B4-BE49-F238E27FC236}">
                <a16:creationId xmlns:a16="http://schemas.microsoft.com/office/drawing/2014/main" id="{A6048818-4B24-4753-AA68-911EF2FFE130}"/>
              </a:ext>
            </a:extLst>
          </p:cNvPr>
          <p:cNvSpPr>
            <a:spLocks xmlns:a="http://schemas.openxmlformats.org/drawingml/2006/main" noGrp="1"/>
          </p:cNvSpPr>
          <p:nvPr/>
        </p:nvSpPr>
        <p:spPr>
          <a:xfrm xmlns:a="http://schemas.openxmlformats.org/drawingml/2006/main">
            <a:off x="9648825" y="5629275"/>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1769E0"/>
                </a:solidFill>
                <a:latin typeface="Helvetica Neue"/>
                <a:ea typeface="Helvetica Neue"/>
                <a:cs typeface="Helvetica Neue"/>
              </a:defRPr>
            </a:pPr>
            <a:r>
              <a:rPr sz="1350" b="1">
                <a:solidFill>
                  <a:srgbClr val="1769E0"/>
                </a:solidFill>
                <a:latin typeface="Helvetica Neue"/>
                <a:ea typeface="Helvetica Neue"/>
                <a:cs typeface="Helvetica Neue"/>
                <a:hlinkClick xmlns:r="http://schemas.openxmlformats.org/officeDocument/2006/relationships" r:id="Rc823cb13965d4856"/>
              </a:rPr>
              <a:t>Read the inspiration</a:t>
            </a:r>
          </a:p>
        </p:txBody>
      </p:sp>
      <p:sp>
        <p:nvSpPr>
          <p:cNvPr id="21" name="">
            <a:extLst xmlns:a="http://schemas.openxmlformats.org/drawingml/2006/main">
              <a:ext uri="{FF2B5EF4-FFF2-40B4-BE49-F238E27FC236}">
                <a16:creationId xmlns:a16="http://schemas.microsoft.com/office/drawing/2014/main" id="{9D3B0C42-718A-49F5-B56F-C1C472A99531}"/>
              </a:ext>
            </a:extLst>
          </p:cNvPr>
          <p:cNvSpPr>
            <a:spLocks xmlns:a="http://schemas.openxmlformats.org/drawingml/2006/main" noGrp="1"/>
          </p:cNvSpPr>
          <p:nvPr/>
        </p:nvSpPr>
        <p:spPr>
          <a:xfrm xmlns:a="http://schemas.openxmlformats.org/drawingml/2006/main">
            <a:off x="11144250" y="63817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125" b="0">
                <a:solidFill>
                  <a:srgbClr val="5C6B7A"/>
                </a:solidFill>
                <a:latin typeface="Helvetica Neue"/>
                <a:ea typeface="Helvetica Neue"/>
                <a:cs typeface="Helvetica Neue"/>
              </a:defRPr>
            </a:pPr>
            <a:r>
              <a:rPr sz="1125" b="0">
                <a:solidFill>
                  <a:srgbClr val="5C6B7A"/>
                </a:solidFill>
                <a:latin typeface="Helvetica Neue"/>
                <a:ea typeface="Helvetica Neue"/>
                <a:cs typeface="Helvetica Neue"/>
              </a:rPr>
              <a:t>04</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2026-09-08T17:06:13.5830000Z</dcterms:created>
  <dcterms:modified xsi:type="dcterms:W3CDTF">2026-09-08T17:06:13.5830000Z</dcterms:modified>
</coreProperties>
</file>